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26"/>
    <p:restoredTop sz="94624"/>
  </p:normalViewPr>
  <p:slideViewPr>
    <p:cSldViewPr snapToGrid="0" snapToObjects="1">
      <p:cViewPr varScale="1">
        <p:scale>
          <a:sx n="106" d="100"/>
          <a:sy n="106" d="100"/>
        </p:scale>
        <p:origin x="97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53DD5-6634-1F47-B26A-E90E6217B2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1B1709-95B5-5B49-A0F9-20DB5625FC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9F4A80D-1318-A740-A013-8C3DABB6BE44}"/>
              </a:ext>
            </a:extLst>
          </p:cNvPr>
          <p:cNvSpPr>
            <a:spLocks noGrp="1"/>
          </p:cNvSpPr>
          <p:nvPr>
            <p:ph type="dt" sz="half" idx="10"/>
          </p:nvPr>
        </p:nvSpPr>
        <p:spPr/>
        <p:txBody>
          <a:bodyPr/>
          <a:lstStyle/>
          <a:p>
            <a:fld id="{5DAC5727-7934-0F42-AA9C-AF676E74FC43}" type="datetimeFigureOut">
              <a:rPr lang="en-US" smtClean="0"/>
              <a:t>3/9/24</a:t>
            </a:fld>
            <a:endParaRPr lang="en-US"/>
          </a:p>
        </p:txBody>
      </p:sp>
      <p:sp>
        <p:nvSpPr>
          <p:cNvPr id="5" name="Footer Placeholder 4">
            <a:extLst>
              <a:ext uri="{FF2B5EF4-FFF2-40B4-BE49-F238E27FC236}">
                <a16:creationId xmlns:a16="http://schemas.microsoft.com/office/drawing/2014/main" id="{786D7F32-F9FD-2749-A7F1-B433C81D9C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BDBE0E-96C6-F24B-A71D-6B89AEDC998C}"/>
              </a:ext>
            </a:extLst>
          </p:cNvPr>
          <p:cNvSpPr>
            <a:spLocks noGrp="1"/>
          </p:cNvSpPr>
          <p:nvPr>
            <p:ph type="sldNum" sz="quarter" idx="12"/>
          </p:nvPr>
        </p:nvSpPr>
        <p:spPr/>
        <p:txBody>
          <a:bodyPr/>
          <a:lstStyle/>
          <a:p>
            <a:fld id="{B116814B-BD32-374E-A9F0-C4CC913202DF}" type="slidenum">
              <a:rPr lang="en-US" smtClean="0"/>
              <a:t>‹#›</a:t>
            </a:fld>
            <a:endParaRPr lang="en-US"/>
          </a:p>
        </p:txBody>
      </p:sp>
    </p:spTree>
    <p:extLst>
      <p:ext uri="{BB962C8B-B14F-4D97-AF65-F5344CB8AC3E}">
        <p14:creationId xmlns:p14="http://schemas.microsoft.com/office/powerpoint/2010/main" val="42640162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727B0-4621-D040-B9CA-9FFECB4D63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CA6A4A-195C-834F-97AF-82860C7666D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4ECDA4-2D87-5442-88B8-789E076669C1}"/>
              </a:ext>
            </a:extLst>
          </p:cNvPr>
          <p:cNvSpPr>
            <a:spLocks noGrp="1"/>
          </p:cNvSpPr>
          <p:nvPr>
            <p:ph type="dt" sz="half" idx="10"/>
          </p:nvPr>
        </p:nvSpPr>
        <p:spPr/>
        <p:txBody>
          <a:bodyPr/>
          <a:lstStyle/>
          <a:p>
            <a:fld id="{5DAC5727-7934-0F42-AA9C-AF676E74FC43}" type="datetimeFigureOut">
              <a:rPr lang="en-US" smtClean="0"/>
              <a:t>3/9/24</a:t>
            </a:fld>
            <a:endParaRPr lang="en-US"/>
          </a:p>
        </p:txBody>
      </p:sp>
      <p:sp>
        <p:nvSpPr>
          <p:cNvPr id="5" name="Footer Placeholder 4">
            <a:extLst>
              <a:ext uri="{FF2B5EF4-FFF2-40B4-BE49-F238E27FC236}">
                <a16:creationId xmlns:a16="http://schemas.microsoft.com/office/drawing/2014/main" id="{3454BC06-CD49-8445-AB6E-DA8EDAA2F8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5630B6-90F9-9647-B448-3A685FCBC8B5}"/>
              </a:ext>
            </a:extLst>
          </p:cNvPr>
          <p:cNvSpPr>
            <a:spLocks noGrp="1"/>
          </p:cNvSpPr>
          <p:nvPr>
            <p:ph type="sldNum" sz="quarter" idx="12"/>
          </p:nvPr>
        </p:nvSpPr>
        <p:spPr/>
        <p:txBody>
          <a:bodyPr/>
          <a:lstStyle/>
          <a:p>
            <a:fld id="{B116814B-BD32-374E-A9F0-C4CC913202DF}" type="slidenum">
              <a:rPr lang="en-US" smtClean="0"/>
              <a:t>‹#›</a:t>
            </a:fld>
            <a:endParaRPr lang="en-US"/>
          </a:p>
        </p:txBody>
      </p:sp>
    </p:spTree>
    <p:extLst>
      <p:ext uri="{BB962C8B-B14F-4D97-AF65-F5344CB8AC3E}">
        <p14:creationId xmlns:p14="http://schemas.microsoft.com/office/powerpoint/2010/main" val="3631056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327E6-86BC-8C48-9A28-9078C8E9DA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F731B7B-41C2-434D-B411-C56346B966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8C0237E-6555-5042-BB98-A344EC9D05C9}"/>
              </a:ext>
            </a:extLst>
          </p:cNvPr>
          <p:cNvSpPr>
            <a:spLocks noGrp="1"/>
          </p:cNvSpPr>
          <p:nvPr>
            <p:ph type="dt" sz="half" idx="10"/>
          </p:nvPr>
        </p:nvSpPr>
        <p:spPr/>
        <p:txBody>
          <a:bodyPr/>
          <a:lstStyle/>
          <a:p>
            <a:fld id="{5DAC5727-7934-0F42-AA9C-AF676E74FC43}" type="datetimeFigureOut">
              <a:rPr lang="en-US" smtClean="0"/>
              <a:t>3/9/24</a:t>
            </a:fld>
            <a:endParaRPr lang="en-US"/>
          </a:p>
        </p:txBody>
      </p:sp>
      <p:sp>
        <p:nvSpPr>
          <p:cNvPr id="5" name="Footer Placeholder 4">
            <a:extLst>
              <a:ext uri="{FF2B5EF4-FFF2-40B4-BE49-F238E27FC236}">
                <a16:creationId xmlns:a16="http://schemas.microsoft.com/office/drawing/2014/main" id="{09FB7998-930C-A947-9089-38670A8196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3FD17B-C79F-1946-95A0-123F8A8C0DEE}"/>
              </a:ext>
            </a:extLst>
          </p:cNvPr>
          <p:cNvSpPr>
            <a:spLocks noGrp="1"/>
          </p:cNvSpPr>
          <p:nvPr>
            <p:ph type="sldNum" sz="quarter" idx="12"/>
          </p:nvPr>
        </p:nvSpPr>
        <p:spPr/>
        <p:txBody>
          <a:bodyPr/>
          <a:lstStyle/>
          <a:p>
            <a:fld id="{B116814B-BD32-374E-A9F0-C4CC913202DF}" type="slidenum">
              <a:rPr lang="en-US" smtClean="0"/>
              <a:t>‹#›</a:t>
            </a:fld>
            <a:endParaRPr lang="en-US"/>
          </a:p>
        </p:txBody>
      </p:sp>
    </p:spTree>
    <p:extLst>
      <p:ext uri="{BB962C8B-B14F-4D97-AF65-F5344CB8AC3E}">
        <p14:creationId xmlns:p14="http://schemas.microsoft.com/office/powerpoint/2010/main" val="4189595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C1F0B-7EF2-D346-8172-1A47C861DC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FF6950-CCE3-5E44-BB7F-6CEBF6684A1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AE86C1F-3BED-A446-A921-30DFF5AD135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D816C55-2120-E845-BB5C-8B8B71E6BF15}"/>
              </a:ext>
            </a:extLst>
          </p:cNvPr>
          <p:cNvSpPr>
            <a:spLocks noGrp="1"/>
          </p:cNvSpPr>
          <p:nvPr>
            <p:ph type="dt" sz="half" idx="10"/>
          </p:nvPr>
        </p:nvSpPr>
        <p:spPr/>
        <p:txBody>
          <a:bodyPr/>
          <a:lstStyle/>
          <a:p>
            <a:fld id="{5DAC5727-7934-0F42-AA9C-AF676E74FC43}" type="datetimeFigureOut">
              <a:rPr lang="en-US" smtClean="0"/>
              <a:t>3/9/24</a:t>
            </a:fld>
            <a:endParaRPr lang="en-US"/>
          </a:p>
        </p:txBody>
      </p:sp>
      <p:sp>
        <p:nvSpPr>
          <p:cNvPr id="6" name="Footer Placeholder 5">
            <a:extLst>
              <a:ext uri="{FF2B5EF4-FFF2-40B4-BE49-F238E27FC236}">
                <a16:creationId xmlns:a16="http://schemas.microsoft.com/office/drawing/2014/main" id="{8152B13B-2624-0B48-89AF-5EA8FBC8DB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1ECB00-32E9-334D-9840-CA5CA00C134A}"/>
              </a:ext>
            </a:extLst>
          </p:cNvPr>
          <p:cNvSpPr>
            <a:spLocks noGrp="1"/>
          </p:cNvSpPr>
          <p:nvPr>
            <p:ph type="sldNum" sz="quarter" idx="12"/>
          </p:nvPr>
        </p:nvSpPr>
        <p:spPr/>
        <p:txBody>
          <a:bodyPr/>
          <a:lstStyle/>
          <a:p>
            <a:fld id="{B116814B-BD32-374E-A9F0-C4CC913202DF}" type="slidenum">
              <a:rPr lang="en-US" smtClean="0"/>
              <a:t>‹#›</a:t>
            </a:fld>
            <a:endParaRPr lang="en-US"/>
          </a:p>
        </p:txBody>
      </p:sp>
    </p:spTree>
    <p:extLst>
      <p:ext uri="{BB962C8B-B14F-4D97-AF65-F5344CB8AC3E}">
        <p14:creationId xmlns:p14="http://schemas.microsoft.com/office/powerpoint/2010/main" val="85323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D2E46-2062-3445-880D-9DDF18E5259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352B44-8694-344B-A5EF-FFD5E15172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6F8E4AC-6123-C443-902F-46D38FC6ABB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2656A5-8A21-0840-AEB2-85F4A6C351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1B2E649-79B6-F649-A067-7FC67ACD75C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9218E9-A172-8147-92BC-B878323D279C}"/>
              </a:ext>
            </a:extLst>
          </p:cNvPr>
          <p:cNvSpPr>
            <a:spLocks noGrp="1"/>
          </p:cNvSpPr>
          <p:nvPr>
            <p:ph type="dt" sz="half" idx="10"/>
          </p:nvPr>
        </p:nvSpPr>
        <p:spPr/>
        <p:txBody>
          <a:bodyPr/>
          <a:lstStyle/>
          <a:p>
            <a:fld id="{5DAC5727-7934-0F42-AA9C-AF676E74FC43}" type="datetimeFigureOut">
              <a:rPr lang="en-US" smtClean="0"/>
              <a:t>3/9/24</a:t>
            </a:fld>
            <a:endParaRPr lang="en-US"/>
          </a:p>
        </p:txBody>
      </p:sp>
      <p:sp>
        <p:nvSpPr>
          <p:cNvPr id="8" name="Footer Placeholder 7">
            <a:extLst>
              <a:ext uri="{FF2B5EF4-FFF2-40B4-BE49-F238E27FC236}">
                <a16:creationId xmlns:a16="http://schemas.microsoft.com/office/drawing/2014/main" id="{651649ED-4768-0E4E-B653-B6DCAB79EBB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9E12ED-85BA-614D-8309-80ECBCED3753}"/>
              </a:ext>
            </a:extLst>
          </p:cNvPr>
          <p:cNvSpPr>
            <a:spLocks noGrp="1"/>
          </p:cNvSpPr>
          <p:nvPr>
            <p:ph type="sldNum" sz="quarter" idx="12"/>
          </p:nvPr>
        </p:nvSpPr>
        <p:spPr/>
        <p:txBody>
          <a:bodyPr/>
          <a:lstStyle/>
          <a:p>
            <a:fld id="{B116814B-BD32-374E-A9F0-C4CC913202DF}" type="slidenum">
              <a:rPr lang="en-US" smtClean="0"/>
              <a:t>‹#›</a:t>
            </a:fld>
            <a:endParaRPr lang="en-US"/>
          </a:p>
        </p:txBody>
      </p:sp>
    </p:spTree>
    <p:extLst>
      <p:ext uri="{BB962C8B-B14F-4D97-AF65-F5344CB8AC3E}">
        <p14:creationId xmlns:p14="http://schemas.microsoft.com/office/powerpoint/2010/main" val="3389625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77003-5877-0F42-9EFE-67DB7CC056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1B3188-F01A-AC42-84EE-E8ED877B6AF9}"/>
              </a:ext>
            </a:extLst>
          </p:cNvPr>
          <p:cNvSpPr>
            <a:spLocks noGrp="1"/>
          </p:cNvSpPr>
          <p:nvPr>
            <p:ph type="dt" sz="half" idx="10"/>
          </p:nvPr>
        </p:nvSpPr>
        <p:spPr/>
        <p:txBody>
          <a:bodyPr/>
          <a:lstStyle/>
          <a:p>
            <a:fld id="{5DAC5727-7934-0F42-AA9C-AF676E74FC43}" type="datetimeFigureOut">
              <a:rPr lang="en-US" smtClean="0"/>
              <a:t>3/9/24</a:t>
            </a:fld>
            <a:endParaRPr lang="en-US"/>
          </a:p>
        </p:txBody>
      </p:sp>
      <p:sp>
        <p:nvSpPr>
          <p:cNvPr id="4" name="Footer Placeholder 3">
            <a:extLst>
              <a:ext uri="{FF2B5EF4-FFF2-40B4-BE49-F238E27FC236}">
                <a16:creationId xmlns:a16="http://schemas.microsoft.com/office/drawing/2014/main" id="{7417E66A-EDEC-9C4E-A6B4-EE33132B23F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A5100C-5488-AD4B-BBC6-8E131636A770}"/>
              </a:ext>
            </a:extLst>
          </p:cNvPr>
          <p:cNvSpPr>
            <a:spLocks noGrp="1"/>
          </p:cNvSpPr>
          <p:nvPr>
            <p:ph type="sldNum" sz="quarter" idx="12"/>
          </p:nvPr>
        </p:nvSpPr>
        <p:spPr/>
        <p:txBody>
          <a:bodyPr/>
          <a:lstStyle/>
          <a:p>
            <a:fld id="{B116814B-BD32-374E-A9F0-C4CC913202DF}" type="slidenum">
              <a:rPr lang="en-US" smtClean="0"/>
              <a:t>‹#›</a:t>
            </a:fld>
            <a:endParaRPr lang="en-US"/>
          </a:p>
        </p:txBody>
      </p:sp>
    </p:spTree>
    <p:extLst>
      <p:ext uri="{BB962C8B-B14F-4D97-AF65-F5344CB8AC3E}">
        <p14:creationId xmlns:p14="http://schemas.microsoft.com/office/powerpoint/2010/main" val="916016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A00A9D-F964-8E42-8AAF-941ABB9EDBDE}"/>
              </a:ext>
            </a:extLst>
          </p:cNvPr>
          <p:cNvSpPr>
            <a:spLocks noGrp="1"/>
          </p:cNvSpPr>
          <p:nvPr>
            <p:ph type="dt" sz="half" idx="10"/>
          </p:nvPr>
        </p:nvSpPr>
        <p:spPr/>
        <p:txBody>
          <a:bodyPr/>
          <a:lstStyle/>
          <a:p>
            <a:fld id="{5DAC5727-7934-0F42-AA9C-AF676E74FC43}" type="datetimeFigureOut">
              <a:rPr lang="en-US" smtClean="0"/>
              <a:t>3/9/24</a:t>
            </a:fld>
            <a:endParaRPr lang="en-US"/>
          </a:p>
        </p:txBody>
      </p:sp>
      <p:sp>
        <p:nvSpPr>
          <p:cNvPr id="3" name="Footer Placeholder 2">
            <a:extLst>
              <a:ext uri="{FF2B5EF4-FFF2-40B4-BE49-F238E27FC236}">
                <a16:creationId xmlns:a16="http://schemas.microsoft.com/office/drawing/2014/main" id="{A9CDDB68-0235-BF48-B990-00CE94F5AD8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3ECA3E-34EC-E64B-80D4-4D2B14AD9556}"/>
              </a:ext>
            </a:extLst>
          </p:cNvPr>
          <p:cNvSpPr>
            <a:spLocks noGrp="1"/>
          </p:cNvSpPr>
          <p:nvPr>
            <p:ph type="sldNum" sz="quarter" idx="12"/>
          </p:nvPr>
        </p:nvSpPr>
        <p:spPr/>
        <p:txBody>
          <a:bodyPr/>
          <a:lstStyle/>
          <a:p>
            <a:fld id="{B116814B-BD32-374E-A9F0-C4CC913202DF}" type="slidenum">
              <a:rPr lang="en-US" smtClean="0"/>
              <a:t>‹#›</a:t>
            </a:fld>
            <a:endParaRPr lang="en-US"/>
          </a:p>
        </p:txBody>
      </p:sp>
    </p:spTree>
    <p:extLst>
      <p:ext uri="{BB962C8B-B14F-4D97-AF65-F5344CB8AC3E}">
        <p14:creationId xmlns:p14="http://schemas.microsoft.com/office/powerpoint/2010/main" val="174335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A3111-3005-9141-8FA0-F33D037065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7E685D-5649-694C-9DC6-DBFD2300DC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0FEC67-D6F0-3343-A2EB-EBC259E5FC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AA3E22F-C45E-064B-8122-6C825529B844}"/>
              </a:ext>
            </a:extLst>
          </p:cNvPr>
          <p:cNvSpPr>
            <a:spLocks noGrp="1"/>
          </p:cNvSpPr>
          <p:nvPr>
            <p:ph type="dt" sz="half" idx="10"/>
          </p:nvPr>
        </p:nvSpPr>
        <p:spPr/>
        <p:txBody>
          <a:bodyPr/>
          <a:lstStyle/>
          <a:p>
            <a:fld id="{5DAC5727-7934-0F42-AA9C-AF676E74FC43}" type="datetimeFigureOut">
              <a:rPr lang="en-US" smtClean="0"/>
              <a:t>3/9/24</a:t>
            </a:fld>
            <a:endParaRPr lang="en-US"/>
          </a:p>
        </p:txBody>
      </p:sp>
      <p:sp>
        <p:nvSpPr>
          <p:cNvPr id="6" name="Footer Placeholder 5">
            <a:extLst>
              <a:ext uri="{FF2B5EF4-FFF2-40B4-BE49-F238E27FC236}">
                <a16:creationId xmlns:a16="http://schemas.microsoft.com/office/drawing/2014/main" id="{24617837-82C1-7F41-AF0C-B19155334C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B6EC09-FD20-6F49-A391-2665F81292D0}"/>
              </a:ext>
            </a:extLst>
          </p:cNvPr>
          <p:cNvSpPr>
            <a:spLocks noGrp="1"/>
          </p:cNvSpPr>
          <p:nvPr>
            <p:ph type="sldNum" sz="quarter" idx="12"/>
          </p:nvPr>
        </p:nvSpPr>
        <p:spPr/>
        <p:txBody>
          <a:bodyPr/>
          <a:lstStyle/>
          <a:p>
            <a:fld id="{B116814B-BD32-374E-A9F0-C4CC913202DF}" type="slidenum">
              <a:rPr lang="en-US" smtClean="0"/>
              <a:t>‹#›</a:t>
            </a:fld>
            <a:endParaRPr lang="en-US"/>
          </a:p>
        </p:txBody>
      </p:sp>
    </p:spTree>
    <p:extLst>
      <p:ext uri="{BB962C8B-B14F-4D97-AF65-F5344CB8AC3E}">
        <p14:creationId xmlns:p14="http://schemas.microsoft.com/office/powerpoint/2010/main" val="3328473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0EEEC-564E-0041-AC90-BAF44F934D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FD512BC-5A6B-9E45-88BC-41B5698D84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751BEEA-755D-EB49-97DC-C4E602135A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AA47362-CD84-6D41-A736-31E4629E4B41}"/>
              </a:ext>
            </a:extLst>
          </p:cNvPr>
          <p:cNvSpPr>
            <a:spLocks noGrp="1"/>
          </p:cNvSpPr>
          <p:nvPr>
            <p:ph type="dt" sz="half" idx="10"/>
          </p:nvPr>
        </p:nvSpPr>
        <p:spPr/>
        <p:txBody>
          <a:bodyPr/>
          <a:lstStyle/>
          <a:p>
            <a:fld id="{5DAC5727-7934-0F42-AA9C-AF676E74FC43}" type="datetimeFigureOut">
              <a:rPr lang="en-US" smtClean="0"/>
              <a:t>3/9/24</a:t>
            </a:fld>
            <a:endParaRPr lang="en-US"/>
          </a:p>
        </p:txBody>
      </p:sp>
      <p:sp>
        <p:nvSpPr>
          <p:cNvPr id="6" name="Footer Placeholder 5">
            <a:extLst>
              <a:ext uri="{FF2B5EF4-FFF2-40B4-BE49-F238E27FC236}">
                <a16:creationId xmlns:a16="http://schemas.microsoft.com/office/drawing/2014/main" id="{464EF584-0F08-1B4C-B083-2A38640C37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EC1F66-C9C6-EE4D-816B-245556CD28E7}"/>
              </a:ext>
            </a:extLst>
          </p:cNvPr>
          <p:cNvSpPr>
            <a:spLocks noGrp="1"/>
          </p:cNvSpPr>
          <p:nvPr>
            <p:ph type="sldNum" sz="quarter" idx="12"/>
          </p:nvPr>
        </p:nvSpPr>
        <p:spPr/>
        <p:txBody>
          <a:bodyPr/>
          <a:lstStyle/>
          <a:p>
            <a:fld id="{B116814B-BD32-374E-A9F0-C4CC913202DF}" type="slidenum">
              <a:rPr lang="en-US" smtClean="0"/>
              <a:t>‹#›</a:t>
            </a:fld>
            <a:endParaRPr lang="en-US"/>
          </a:p>
        </p:txBody>
      </p:sp>
    </p:spTree>
    <p:extLst>
      <p:ext uri="{BB962C8B-B14F-4D97-AF65-F5344CB8AC3E}">
        <p14:creationId xmlns:p14="http://schemas.microsoft.com/office/powerpoint/2010/main" val="1391034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8F755-BF4A-B54E-88E5-AACDC6ADC2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9E9CA1F-D202-AE41-8BA4-564623D6F1D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586121-EFE0-EE46-A914-BFA68738B94D}"/>
              </a:ext>
            </a:extLst>
          </p:cNvPr>
          <p:cNvSpPr>
            <a:spLocks noGrp="1"/>
          </p:cNvSpPr>
          <p:nvPr>
            <p:ph type="dt" sz="half" idx="10"/>
          </p:nvPr>
        </p:nvSpPr>
        <p:spPr/>
        <p:txBody>
          <a:bodyPr/>
          <a:lstStyle/>
          <a:p>
            <a:fld id="{5DAC5727-7934-0F42-AA9C-AF676E74FC43}" type="datetimeFigureOut">
              <a:rPr lang="en-US" smtClean="0"/>
              <a:t>3/9/24</a:t>
            </a:fld>
            <a:endParaRPr lang="en-US"/>
          </a:p>
        </p:txBody>
      </p:sp>
      <p:sp>
        <p:nvSpPr>
          <p:cNvPr id="5" name="Footer Placeholder 4">
            <a:extLst>
              <a:ext uri="{FF2B5EF4-FFF2-40B4-BE49-F238E27FC236}">
                <a16:creationId xmlns:a16="http://schemas.microsoft.com/office/drawing/2014/main" id="{F5A0A58D-D82B-3646-A120-A2D4FB8703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A6B108-A74C-3841-8E12-B5FFBE23B1A5}"/>
              </a:ext>
            </a:extLst>
          </p:cNvPr>
          <p:cNvSpPr>
            <a:spLocks noGrp="1"/>
          </p:cNvSpPr>
          <p:nvPr>
            <p:ph type="sldNum" sz="quarter" idx="12"/>
          </p:nvPr>
        </p:nvSpPr>
        <p:spPr/>
        <p:txBody>
          <a:bodyPr/>
          <a:lstStyle/>
          <a:p>
            <a:fld id="{B116814B-BD32-374E-A9F0-C4CC913202DF}" type="slidenum">
              <a:rPr lang="en-US" smtClean="0"/>
              <a:t>‹#›</a:t>
            </a:fld>
            <a:endParaRPr lang="en-US"/>
          </a:p>
        </p:txBody>
      </p:sp>
    </p:spTree>
    <p:extLst>
      <p:ext uri="{BB962C8B-B14F-4D97-AF65-F5344CB8AC3E}">
        <p14:creationId xmlns:p14="http://schemas.microsoft.com/office/powerpoint/2010/main" val="848737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A4FED5-A95C-2248-9F6E-F270D8A5AE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4709BE-EF13-7B4A-83D3-F7FC3B7E49B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D0CAF-2393-B045-AF62-6A65D3ED60F4}"/>
              </a:ext>
            </a:extLst>
          </p:cNvPr>
          <p:cNvSpPr>
            <a:spLocks noGrp="1"/>
          </p:cNvSpPr>
          <p:nvPr>
            <p:ph type="dt" sz="half" idx="10"/>
          </p:nvPr>
        </p:nvSpPr>
        <p:spPr/>
        <p:txBody>
          <a:bodyPr/>
          <a:lstStyle/>
          <a:p>
            <a:fld id="{5DAC5727-7934-0F42-AA9C-AF676E74FC43}" type="datetimeFigureOut">
              <a:rPr lang="en-US" smtClean="0"/>
              <a:t>3/9/24</a:t>
            </a:fld>
            <a:endParaRPr lang="en-US"/>
          </a:p>
        </p:txBody>
      </p:sp>
      <p:sp>
        <p:nvSpPr>
          <p:cNvPr id="5" name="Footer Placeholder 4">
            <a:extLst>
              <a:ext uri="{FF2B5EF4-FFF2-40B4-BE49-F238E27FC236}">
                <a16:creationId xmlns:a16="http://schemas.microsoft.com/office/drawing/2014/main" id="{31EE4016-9D47-8040-8A55-198A934E40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17AF6C-4250-6143-AA54-4251A42A14DD}"/>
              </a:ext>
            </a:extLst>
          </p:cNvPr>
          <p:cNvSpPr>
            <a:spLocks noGrp="1"/>
          </p:cNvSpPr>
          <p:nvPr>
            <p:ph type="sldNum" sz="quarter" idx="12"/>
          </p:nvPr>
        </p:nvSpPr>
        <p:spPr/>
        <p:txBody>
          <a:bodyPr/>
          <a:lstStyle/>
          <a:p>
            <a:fld id="{B116814B-BD32-374E-A9F0-C4CC913202DF}" type="slidenum">
              <a:rPr lang="en-US" smtClean="0"/>
              <a:t>‹#›</a:t>
            </a:fld>
            <a:endParaRPr lang="en-US"/>
          </a:p>
        </p:txBody>
      </p:sp>
    </p:spTree>
    <p:extLst>
      <p:ext uri="{BB962C8B-B14F-4D97-AF65-F5344CB8AC3E}">
        <p14:creationId xmlns:p14="http://schemas.microsoft.com/office/powerpoint/2010/main" val="2768453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187A50-6AB9-4849-B828-AB2942887B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017CAE-4A6D-6B4E-9C6B-EFA449AE74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8A2982-82E1-0443-A0B6-AF1606010B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AC5727-7934-0F42-AA9C-AF676E74FC43}" type="datetimeFigureOut">
              <a:rPr lang="en-US" smtClean="0"/>
              <a:t>3/9/24</a:t>
            </a:fld>
            <a:endParaRPr lang="en-US"/>
          </a:p>
        </p:txBody>
      </p:sp>
      <p:sp>
        <p:nvSpPr>
          <p:cNvPr id="5" name="Footer Placeholder 4">
            <a:extLst>
              <a:ext uri="{FF2B5EF4-FFF2-40B4-BE49-F238E27FC236}">
                <a16:creationId xmlns:a16="http://schemas.microsoft.com/office/drawing/2014/main" id="{EB44DF54-D0D8-B54C-8FCB-B16BD43150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D0F99E9-FFB4-C144-B4B6-9EB3B558CB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16814B-BD32-374E-A9F0-C4CC913202DF}" type="slidenum">
              <a:rPr lang="en-US" smtClean="0"/>
              <a:t>‹#›</a:t>
            </a:fld>
            <a:endParaRPr lang="en-US"/>
          </a:p>
        </p:txBody>
      </p:sp>
    </p:spTree>
    <p:extLst>
      <p:ext uri="{BB962C8B-B14F-4D97-AF65-F5344CB8AC3E}">
        <p14:creationId xmlns:p14="http://schemas.microsoft.com/office/powerpoint/2010/main" val="6224498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machinelearningmastery.com/sarima-for-time-series-forecasting-in-pytho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AAEF5-E961-444F-8A78-2E4788E62D4E}"/>
              </a:ext>
            </a:extLst>
          </p:cNvPr>
          <p:cNvSpPr>
            <a:spLocks noGrp="1"/>
          </p:cNvSpPr>
          <p:nvPr>
            <p:ph type="ctrTitle"/>
          </p:nvPr>
        </p:nvSpPr>
        <p:spPr/>
        <p:txBody>
          <a:bodyPr/>
          <a:lstStyle/>
          <a:p>
            <a:r>
              <a:rPr lang="en-US" dirty="0"/>
              <a:t>Time Series Analysis and Forecasting</a:t>
            </a:r>
          </a:p>
        </p:txBody>
      </p:sp>
      <p:sp>
        <p:nvSpPr>
          <p:cNvPr id="3" name="Subtitle 2">
            <a:extLst>
              <a:ext uri="{FF2B5EF4-FFF2-40B4-BE49-F238E27FC236}">
                <a16:creationId xmlns:a16="http://schemas.microsoft.com/office/drawing/2014/main" id="{F09DBAA8-F4E4-134B-8D26-4C5AB39337B5}"/>
              </a:ext>
            </a:extLst>
          </p:cNvPr>
          <p:cNvSpPr>
            <a:spLocks noGrp="1"/>
          </p:cNvSpPr>
          <p:nvPr>
            <p:ph type="subTitle" idx="1"/>
          </p:nvPr>
        </p:nvSpPr>
        <p:spPr/>
        <p:txBody>
          <a:bodyPr/>
          <a:lstStyle/>
          <a:p>
            <a:r>
              <a:rPr lang="en-US" dirty="0"/>
              <a:t>Week 1</a:t>
            </a:r>
          </a:p>
        </p:txBody>
      </p:sp>
    </p:spTree>
    <p:extLst>
      <p:ext uri="{BB962C8B-B14F-4D97-AF65-F5344CB8AC3E}">
        <p14:creationId xmlns:p14="http://schemas.microsoft.com/office/powerpoint/2010/main" val="1948858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35C4E-2650-B143-AA45-6D7C8CF3E2BF}"/>
              </a:ext>
            </a:extLst>
          </p:cNvPr>
          <p:cNvSpPr>
            <a:spLocks noGrp="1"/>
          </p:cNvSpPr>
          <p:nvPr>
            <p:ph type="title"/>
          </p:nvPr>
        </p:nvSpPr>
        <p:spPr/>
        <p:txBody>
          <a:bodyPr/>
          <a:lstStyle/>
          <a:p>
            <a:r>
              <a:rPr lang="en-US" dirty="0"/>
              <a:t>List of Time Series Models</a:t>
            </a:r>
          </a:p>
        </p:txBody>
      </p:sp>
      <p:sp>
        <p:nvSpPr>
          <p:cNvPr id="3" name="Content Placeholder 2">
            <a:extLst>
              <a:ext uri="{FF2B5EF4-FFF2-40B4-BE49-F238E27FC236}">
                <a16:creationId xmlns:a16="http://schemas.microsoft.com/office/drawing/2014/main" id="{0677BD8A-6CB3-B047-88DF-C4048C41198E}"/>
              </a:ext>
            </a:extLst>
          </p:cNvPr>
          <p:cNvSpPr>
            <a:spLocks noGrp="1"/>
          </p:cNvSpPr>
          <p:nvPr>
            <p:ph idx="1"/>
          </p:nvPr>
        </p:nvSpPr>
        <p:spPr/>
        <p:txBody>
          <a:bodyPr>
            <a:normAutofit fontScale="77500" lnSpcReduction="20000"/>
          </a:bodyPr>
          <a:lstStyle/>
          <a:p>
            <a:pPr marL="514350" indent="-514350" fontAlgn="base">
              <a:buFont typeface="+mj-lt"/>
              <a:buAutoNum type="arabicPeriod"/>
            </a:pPr>
            <a:r>
              <a:rPr lang="en-US" dirty="0"/>
              <a:t>Autoregression (AR)</a:t>
            </a:r>
          </a:p>
          <a:p>
            <a:pPr marL="514350" indent="-514350" fontAlgn="base">
              <a:buFont typeface="+mj-lt"/>
              <a:buAutoNum type="arabicPeriod"/>
            </a:pPr>
            <a:r>
              <a:rPr lang="en-US" dirty="0"/>
              <a:t>Moving Average (MA)</a:t>
            </a:r>
          </a:p>
          <a:p>
            <a:pPr marL="514350" indent="-514350" fontAlgn="base">
              <a:buFont typeface="+mj-lt"/>
              <a:buAutoNum type="arabicPeriod"/>
            </a:pPr>
            <a:r>
              <a:rPr lang="en-US" dirty="0"/>
              <a:t>Autoregressive Moving Average (ARMA)</a:t>
            </a:r>
          </a:p>
          <a:p>
            <a:pPr marL="514350" indent="-514350" fontAlgn="base">
              <a:buFont typeface="+mj-lt"/>
              <a:buAutoNum type="arabicPeriod"/>
            </a:pPr>
            <a:r>
              <a:rPr lang="en-US" dirty="0"/>
              <a:t>Autoregressive Integrated Moving Average (ARIMA)</a:t>
            </a:r>
          </a:p>
          <a:p>
            <a:pPr marL="514350" indent="-514350" fontAlgn="base">
              <a:buFont typeface="+mj-lt"/>
              <a:buAutoNum type="arabicPeriod"/>
            </a:pPr>
            <a:r>
              <a:rPr lang="en-US" dirty="0"/>
              <a:t>Seasonal Autoregressive Integrated Moving-Average (SARIMA)</a:t>
            </a:r>
          </a:p>
          <a:p>
            <a:pPr marL="514350" indent="-514350" fontAlgn="base">
              <a:buFont typeface="+mj-lt"/>
              <a:buAutoNum type="arabicPeriod"/>
            </a:pPr>
            <a:r>
              <a:rPr lang="en-US" dirty="0"/>
              <a:t>Seasonal Autoregressive Integrated Moving-Average with Exogenous Regressors (SARIMAX)</a:t>
            </a:r>
          </a:p>
          <a:p>
            <a:pPr marL="514350" indent="-514350" fontAlgn="base">
              <a:buFont typeface="+mj-lt"/>
              <a:buAutoNum type="arabicPeriod"/>
            </a:pPr>
            <a:r>
              <a:rPr lang="en-US" dirty="0"/>
              <a:t>Vector Autoregression (VAR)</a:t>
            </a:r>
          </a:p>
          <a:p>
            <a:pPr marL="514350" indent="-514350" fontAlgn="base">
              <a:buFont typeface="+mj-lt"/>
              <a:buAutoNum type="arabicPeriod"/>
            </a:pPr>
            <a:r>
              <a:rPr lang="en-US" dirty="0"/>
              <a:t>Vector Autoregression Moving-Average (VARMA)</a:t>
            </a:r>
          </a:p>
          <a:p>
            <a:pPr marL="514350" indent="-514350" fontAlgn="base">
              <a:buFont typeface="+mj-lt"/>
              <a:buAutoNum type="arabicPeriod"/>
            </a:pPr>
            <a:r>
              <a:rPr lang="en-US" dirty="0"/>
              <a:t>Vector Autoregression Moving-Average with Exogenous Regressors (VARMAX)</a:t>
            </a:r>
          </a:p>
          <a:p>
            <a:pPr marL="514350" indent="-514350" fontAlgn="base">
              <a:buFont typeface="+mj-lt"/>
              <a:buAutoNum type="arabicPeriod"/>
            </a:pPr>
            <a:r>
              <a:rPr lang="en-US" dirty="0"/>
              <a:t>Simple Exponential Smoothing (SES)</a:t>
            </a:r>
          </a:p>
          <a:p>
            <a:pPr marL="514350" indent="-514350" fontAlgn="base">
              <a:buFont typeface="+mj-lt"/>
              <a:buAutoNum type="arabicPeriod"/>
            </a:pPr>
            <a:r>
              <a:rPr lang="en-US" dirty="0"/>
              <a:t>Holt Winter’s Exponential Smoothing (HWES)</a:t>
            </a:r>
          </a:p>
        </p:txBody>
      </p:sp>
    </p:spTree>
    <p:extLst>
      <p:ext uri="{BB962C8B-B14F-4D97-AF65-F5344CB8AC3E}">
        <p14:creationId xmlns:p14="http://schemas.microsoft.com/office/powerpoint/2010/main" val="2191177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35C4E-2650-B143-AA45-6D7C8CF3E2BF}"/>
              </a:ext>
            </a:extLst>
          </p:cNvPr>
          <p:cNvSpPr>
            <a:spLocks noGrp="1"/>
          </p:cNvSpPr>
          <p:nvPr>
            <p:ph type="title"/>
          </p:nvPr>
        </p:nvSpPr>
        <p:spPr/>
        <p:txBody>
          <a:bodyPr/>
          <a:lstStyle/>
          <a:p>
            <a:r>
              <a:rPr lang="en-US" dirty="0"/>
              <a:t>1. Autoregression (AR)</a:t>
            </a:r>
          </a:p>
        </p:txBody>
      </p:sp>
      <p:sp>
        <p:nvSpPr>
          <p:cNvPr id="3" name="Content Placeholder 2">
            <a:extLst>
              <a:ext uri="{FF2B5EF4-FFF2-40B4-BE49-F238E27FC236}">
                <a16:creationId xmlns:a16="http://schemas.microsoft.com/office/drawing/2014/main" id="{0677BD8A-6CB3-B047-88DF-C4048C41198E}"/>
              </a:ext>
            </a:extLst>
          </p:cNvPr>
          <p:cNvSpPr>
            <a:spLocks noGrp="1"/>
          </p:cNvSpPr>
          <p:nvPr>
            <p:ph idx="1"/>
          </p:nvPr>
        </p:nvSpPr>
        <p:spPr/>
        <p:txBody>
          <a:bodyPr>
            <a:normAutofit/>
          </a:bodyPr>
          <a:lstStyle/>
          <a:p>
            <a:pPr fontAlgn="base"/>
            <a:r>
              <a:rPr lang="en-US" dirty="0"/>
              <a:t>The </a:t>
            </a:r>
            <a:r>
              <a:rPr lang="en-US" b="1" dirty="0"/>
              <a:t>autoregression (AR) </a:t>
            </a:r>
            <a:r>
              <a:rPr lang="en-US" dirty="0"/>
              <a:t>method predicts the subsequent value in a sequence using a </a:t>
            </a:r>
            <a:r>
              <a:rPr lang="en-US" b="1" dirty="0"/>
              <a:t>linear combination of previous observations</a:t>
            </a:r>
            <a:r>
              <a:rPr lang="en-US" dirty="0"/>
              <a:t>. </a:t>
            </a:r>
          </a:p>
          <a:p>
            <a:pPr fontAlgn="base"/>
            <a:endParaRPr lang="en-US" dirty="0"/>
          </a:p>
          <a:p>
            <a:pPr fontAlgn="base"/>
            <a:r>
              <a:rPr lang="en-US" dirty="0"/>
              <a:t>The notation for the model involves specifying the order of the model </a:t>
            </a:r>
            <a:r>
              <a:rPr lang="en-US" b="1" i="1" dirty="0"/>
              <a:t>p</a:t>
            </a:r>
            <a:r>
              <a:rPr lang="en-US" dirty="0"/>
              <a:t> as a parameter to the AR function, e.g</a:t>
            </a:r>
            <a:r>
              <a:rPr lang="en-US" b="1" dirty="0"/>
              <a:t>. AR(</a:t>
            </a:r>
            <a:r>
              <a:rPr lang="en-US" b="1" i="1" dirty="0"/>
              <a:t>p</a:t>
            </a:r>
            <a:r>
              <a:rPr lang="en-US" b="1" dirty="0"/>
              <a:t>). </a:t>
            </a:r>
            <a:r>
              <a:rPr lang="en-US" dirty="0"/>
              <a:t>For example, AR(1) is a first-order autoregression model.</a:t>
            </a:r>
          </a:p>
          <a:p>
            <a:pPr fontAlgn="base"/>
            <a:endParaRPr lang="en-US" dirty="0"/>
          </a:p>
          <a:p>
            <a:pPr fontAlgn="base"/>
            <a:r>
              <a:rPr lang="en-US" dirty="0"/>
              <a:t>The method is best suited for single-variable time series that lack trend and seasonal components.</a:t>
            </a:r>
          </a:p>
          <a:p>
            <a:pPr marL="0" indent="0">
              <a:buNone/>
            </a:pPr>
            <a:endParaRPr lang="en-US" dirty="0"/>
          </a:p>
        </p:txBody>
      </p:sp>
    </p:spTree>
    <p:extLst>
      <p:ext uri="{BB962C8B-B14F-4D97-AF65-F5344CB8AC3E}">
        <p14:creationId xmlns:p14="http://schemas.microsoft.com/office/powerpoint/2010/main" val="1846844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35C4E-2650-B143-AA45-6D7C8CF3E2BF}"/>
              </a:ext>
            </a:extLst>
          </p:cNvPr>
          <p:cNvSpPr>
            <a:spLocks noGrp="1"/>
          </p:cNvSpPr>
          <p:nvPr>
            <p:ph type="title"/>
          </p:nvPr>
        </p:nvSpPr>
        <p:spPr/>
        <p:txBody>
          <a:bodyPr/>
          <a:lstStyle/>
          <a:p>
            <a:r>
              <a:rPr lang="en-US" dirty="0"/>
              <a:t>2. Moving Average (MA)</a:t>
            </a:r>
          </a:p>
        </p:txBody>
      </p:sp>
      <p:sp>
        <p:nvSpPr>
          <p:cNvPr id="3" name="Content Placeholder 2">
            <a:extLst>
              <a:ext uri="{FF2B5EF4-FFF2-40B4-BE49-F238E27FC236}">
                <a16:creationId xmlns:a16="http://schemas.microsoft.com/office/drawing/2014/main" id="{0677BD8A-6CB3-B047-88DF-C4048C41198E}"/>
              </a:ext>
            </a:extLst>
          </p:cNvPr>
          <p:cNvSpPr>
            <a:spLocks noGrp="1"/>
          </p:cNvSpPr>
          <p:nvPr>
            <p:ph idx="1"/>
          </p:nvPr>
        </p:nvSpPr>
        <p:spPr/>
        <p:txBody>
          <a:bodyPr>
            <a:normAutofit fontScale="92500" lnSpcReduction="20000"/>
          </a:bodyPr>
          <a:lstStyle/>
          <a:p>
            <a:pPr fontAlgn="base"/>
            <a:r>
              <a:rPr lang="en-US" dirty="0"/>
              <a:t>The </a:t>
            </a:r>
            <a:r>
              <a:rPr lang="en-US" b="1" dirty="0"/>
              <a:t>Moving Average (MA) </a:t>
            </a:r>
            <a:r>
              <a:rPr lang="en-US" dirty="0"/>
              <a:t>method models predict the next step in the sequence as a </a:t>
            </a:r>
            <a:r>
              <a:rPr lang="en-US" b="1" dirty="0"/>
              <a:t>linear function of the residual errors</a:t>
            </a:r>
            <a:r>
              <a:rPr lang="en-US" dirty="0"/>
              <a:t> from a mean process at prior time steps.</a:t>
            </a:r>
          </a:p>
          <a:p>
            <a:pPr fontAlgn="base"/>
            <a:r>
              <a:rPr lang="en-US" dirty="0"/>
              <a:t>It’s important to note that a Moving Average model is different from calculating the moving average of the time series.</a:t>
            </a:r>
          </a:p>
          <a:p>
            <a:pPr fontAlgn="base"/>
            <a:r>
              <a:rPr lang="en-US" dirty="0"/>
              <a:t>The notation for the model involves specifying the order of the model </a:t>
            </a:r>
            <a:r>
              <a:rPr lang="en-US" b="1" i="1" dirty="0"/>
              <a:t>q</a:t>
            </a:r>
            <a:r>
              <a:rPr lang="en-US" dirty="0"/>
              <a:t> as a parameter to the MA function, e.g. </a:t>
            </a:r>
            <a:r>
              <a:rPr lang="en-US" b="1" dirty="0"/>
              <a:t>MA(</a:t>
            </a:r>
            <a:r>
              <a:rPr lang="en-US" b="1" i="1" dirty="0"/>
              <a:t>q</a:t>
            </a:r>
            <a:r>
              <a:rPr lang="en-US" b="1" dirty="0"/>
              <a:t>)</a:t>
            </a:r>
            <a:r>
              <a:rPr lang="en-US" dirty="0"/>
              <a:t>. For example, MA(1) is a first-order moving average model.</a:t>
            </a:r>
          </a:p>
          <a:p>
            <a:pPr fontAlgn="base"/>
            <a:r>
              <a:rPr lang="en-US" dirty="0"/>
              <a:t>The method is suitable for </a:t>
            </a:r>
            <a:r>
              <a:rPr lang="en-US" b="1" dirty="0"/>
              <a:t>univariate time series without trend and seasonal components</a:t>
            </a:r>
            <a:r>
              <a:rPr lang="en-US" dirty="0"/>
              <a:t>.</a:t>
            </a:r>
          </a:p>
          <a:p>
            <a:pPr fontAlgn="base"/>
            <a:r>
              <a:rPr lang="en-US" dirty="0"/>
              <a:t>We can use the ARIMA class to create an MA model and set a zeroth-order AR model. We must specify the order of the MA model in the order argument.</a:t>
            </a:r>
          </a:p>
        </p:txBody>
      </p:sp>
    </p:spTree>
    <p:extLst>
      <p:ext uri="{BB962C8B-B14F-4D97-AF65-F5344CB8AC3E}">
        <p14:creationId xmlns:p14="http://schemas.microsoft.com/office/powerpoint/2010/main" val="2046499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35C4E-2650-B143-AA45-6D7C8CF3E2BF}"/>
              </a:ext>
            </a:extLst>
          </p:cNvPr>
          <p:cNvSpPr>
            <a:spLocks noGrp="1"/>
          </p:cNvSpPr>
          <p:nvPr>
            <p:ph type="title"/>
          </p:nvPr>
        </p:nvSpPr>
        <p:spPr/>
        <p:txBody>
          <a:bodyPr/>
          <a:lstStyle/>
          <a:p>
            <a:r>
              <a:rPr lang="en-US" dirty="0"/>
              <a:t>3. Autoregressive Moving Average (ARMA)</a:t>
            </a:r>
          </a:p>
        </p:txBody>
      </p:sp>
      <p:sp>
        <p:nvSpPr>
          <p:cNvPr id="3" name="Content Placeholder 2">
            <a:extLst>
              <a:ext uri="{FF2B5EF4-FFF2-40B4-BE49-F238E27FC236}">
                <a16:creationId xmlns:a16="http://schemas.microsoft.com/office/drawing/2014/main" id="{0677BD8A-6CB3-B047-88DF-C4048C41198E}"/>
              </a:ext>
            </a:extLst>
          </p:cNvPr>
          <p:cNvSpPr>
            <a:spLocks noGrp="1"/>
          </p:cNvSpPr>
          <p:nvPr>
            <p:ph idx="1"/>
          </p:nvPr>
        </p:nvSpPr>
        <p:spPr/>
        <p:txBody>
          <a:bodyPr>
            <a:normAutofit lnSpcReduction="10000"/>
          </a:bodyPr>
          <a:lstStyle/>
          <a:p>
            <a:pPr fontAlgn="base"/>
            <a:r>
              <a:rPr lang="en-US" dirty="0"/>
              <a:t>The </a:t>
            </a:r>
            <a:r>
              <a:rPr lang="en-US" b="1" dirty="0"/>
              <a:t>Autoregressive Moving Average (ARMA) </a:t>
            </a:r>
            <a:r>
              <a:rPr lang="en-US" dirty="0"/>
              <a:t>method model predicts the next step in the sequence based on </a:t>
            </a:r>
            <a:r>
              <a:rPr lang="en-US" b="1" dirty="0"/>
              <a:t>a linear combination of both past observations and past residual errors</a:t>
            </a:r>
            <a:r>
              <a:rPr lang="en-US" dirty="0"/>
              <a:t>. </a:t>
            </a:r>
          </a:p>
          <a:p>
            <a:pPr fontAlgn="base"/>
            <a:r>
              <a:rPr lang="en-US" dirty="0"/>
              <a:t>The method combines both Autoregression (AR) and Moving Average (MA) models.</a:t>
            </a:r>
          </a:p>
          <a:p>
            <a:pPr fontAlgn="base"/>
            <a:r>
              <a:rPr lang="en-US" dirty="0"/>
              <a:t>To represent the model, the notation involves specifying the order for the </a:t>
            </a:r>
            <a:r>
              <a:rPr lang="en-US" b="1" dirty="0"/>
              <a:t>AR(</a:t>
            </a:r>
            <a:r>
              <a:rPr lang="en-US" b="1" i="1" dirty="0"/>
              <a:t>p</a:t>
            </a:r>
            <a:r>
              <a:rPr lang="en-US" b="1" dirty="0"/>
              <a:t>)</a:t>
            </a:r>
            <a:r>
              <a:rPr lang="en-US" dirty="0"/>
              <a:t> and </a:t>
            </a:r>
            <a:r>
              <a:rPr lang="en-US" b="1" dirty="0"/>
              <a:t>MA(</a:t>
            </a:r>
            <a:r>
              <a:rPr lang="en-US" b="1" i="1" dirty="0"/>
              <a:t>q</a:t>
            </a:r>
            <a:r>
              <a:rPr lang="en-US" b="1" dirty="0"/>
              <a:t>)</a:t>
            </a:r>
            <a:r>
              <a:rPr lang="en-US" dirty="0"/>
              <a:t> models as parameters to an ARMA function, e.g. </a:t>
            </a:r>
            <a:r>
              <a:rPr lang="en-US" b="1" dirty="0"/>
              <a:t>ARMA(</a:t>
            </a:r>
            <a:r>
              <a:rPr lang="en-US" b="1" i="1" dirty="0"/>
              <a:t>p</a:t>
            </a:r>
            <a:r>
              <a:rPr lang="en-US" b="1" dirty="0"/>
              <a:t>, </a:t>
            </a:r>
            <a:r>
              <a:rPr lang="en-US" b="1" i="1" dirty="0"/>
              <a:t>q</a:t>
            </a:r>
            <a:r>
              <a:rPr lang="en-US" b="1" dirty="0"/>
              <a:t>). </a:t>
            </a:r>
            <a:r>
              <a:rPr lang="en-US" dirty="0"/>
              <a:t>An ARMA model can be used to develop AR or MA models.</a:t>
            </a:r>
          </a:p>
          <a:p>
            <a:pPr fontAlgn="base"/>
            <a:r>
              <a:rPr lang="en-US" dirty="0"/>
              <a:t>The method is suitable for </a:t>
            </a:r>
            <a:r>
              <a:rPr lang="en-US" b="1" dirty="0"/>
              <a:t>univariate time series without trend and seasonal components</a:t>
            </a:r>
            <a:r>
              <a:rPr lang="en-US" dirty="0"/>
              <a:t>.</a:t>
            </a:r>
          </a:p>
        </p:txBody>
      </p:sp>
    </p:spTree>
    <p:extLst>
      <p:ext uri="{BB962C8B-B14F-4D97-AF65-F5344CB8AC3E}">
        <p14:creationId xmlns:p14="http://schemas.microsoft.com/office/powerpoint/2010/main" val="2732725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35C4E-2650-B143-AA45-6D7C8CF3E2BF}"/>
              </a:ext>
            </a:extLst>
          </p:cNvPr>
          <p:cNvSpPr>
            <a:spLocks noGrp="1"/>
          </p:cNvSpPr>
          <p:nvPr>
            <p:ph type="title"/>
          </p:nvPr>
        </p:nvSpPr>
        <p:spPr/>
        <p:txBody>
          <a:bodyPr>
            <a:normAutofit/>
          </a:bodyPr>
          <a:lstStyle/>
          <a:p>
            <a:r>
              <a:rPr lang="en-US" sz="3600" dirty="0"/>
              <a:t>4. Autoregressive Integrated Moving Average (ARIMA)</a:t>
            </a:r>
          </a:p>
        </p:txBody>
      </p:sp>
      <p:sp>
        <p:nvSpPr>
          <p:cNvPr id="3" name="Content Placeholder 2">
            <a:extLst>
              <a:ext uri="{FF2B5EF4-FFF2-40B4-BE49-F238E27FC236}">
                <a16:creationId xmlns:a16="http://schemas.microsoft.com/office/drawing/2014/main" id="{0677BD8A-6CB3-B047-88DF-C4048C41198E}"/>
              </a:ext>
            </a:extLst>
          </p:cNvPr>
          <p:cNvSpPr>
            <a:spLocks noGrp="1"/>
          </p:cNvSpPr>
          <p:nvPr>
            <p:ph idx="1"/>
          </p:nvPr>
        </p:nvSpPr>
        <p:spPr/>
        <p:txBody>
          <a:bodyPr>
            <a:normAutofit fontScale="92500" lnSpcReduction="10000"/>
          </a:bodyPr>
          <a:lstStyle/>
          <a:p>
            <a:pPr fontAlgn="base"/>
            <a:r>
              <a:rPr lang="en-US" dirty="0"/>
              <a:t>The </a:t>
            </a:r>
            <a:r>
              <a:rPr lang="en-US" b="1" dirty="0"/>
              <a:t>Autoregressive Integrated Moving Average (ARIMA) </a:t>
            </a:r>
            <a:r>
              <a:rPr lang="en-US" dirty="0"/>
              <a:t>method model predicts the next step in the sequence as </a:t>
            </a:r>
            <a:r>
              <a:rPr lang="en-US" b="1" dirty="0"/>
              <a:t>a linear function of the differenced observations and residual errors at prior time steps</a:t>
            </a:r>
            <a:r>
              <a:rPr lang="en-US" dirty="0"/>
              <a:t>.</a:t>
            </a:r>
          </a:p>
          <a:p>
            <a:pPr fontAlgn="base"/>
            <a:r>
              <a:rPr lang="en-US" dirty="0"/>
              <a:t>The method integrates the principles of Autoregression (AR) and Moving Average (MA) models </a:t>
            </a:r>
            <a:r>
              <a:rPr lang="en-US" b="1" dirty="0"/>
              <a:t>as well as a differencing pre-processing step of the sequence to make the sequence stationary</a:t>
            </a:r>
            <a:r>
              <a:rPr lang="en-US" dirty="0"/>
              <a:t>, called </a:t>
            </a:r>
            <a:r>
              <a:rPr lang="en-US" b="1" dirty="0"/>
              <a:t>integration (I).</a:t>
            </a:r>
          </a:p>
          <a:p>
            <a:pPr fontAlgn="base"/>
            <a:r>
              <a:rPr lang="en-US" dirty="0"/>
              <a:t>The notation for the model involves specifying the order for the </a:t>
            </a:r>
            <a:r>
              <a:rPr lang="en-US" b="1" dirty="0"/>
              <a:t>AR(p), I(</a:t>
            </a:r>
            <a:r>
              <a:rPr lang="en-US" b="1" i="1" dirty="0"/>
              <a:t>d</a:t>
            </a:r>
            <a:r>
              <a:rPr lang="en-US" b="1" dirty="0"/>
              <a:t>)</a:t>
            </a:r>
            <a:r>
              <a:rPr lang="en-US" dirty="0"/>
              <a:t>, and </a:t>
            </a:r>
            <a:r>
              <a:rPr lang="en-US" b="1" dirty="0"/>
              <a:t>MA(</a:t>
            </a:r>
            <a:r>
              <a:rPr lang="en-US" b="1" i="1" dirty="0"/>
              <a:t>q</a:t>
            </a:r>
            <a:r>
              <a:rPr lang="en-US" b="1" dirty="0"/>
              <a:t>)</a:t>
            </a:r>
            <a:r>
              <a:rPr lang="en-US" dirty="0"/>
              <a:t> models as parameters to an ARIMA function, e.g. </a:t>
            </a:r>
            <a:r>
              <a:rPr lang="en-US" b="1" dirty="0"/>
              <a:t>ARIMA(</a:t>
            </a:r>
            <a:r>
              <a:rPr lang="en-US" b="1" i="1" dirty="0"/>
              <a:t>p</a:t>
            </a:r>
            <a:r>
              <a:rPr lang="en-US" b="1" dirty="0"/>
              <a:t>, </a:t>
            </a:r>
            <a:r>
              <a:rPr lang="en-US" b="1" i="1" dirty="0"/>
              <a:t>d</a:t>
            </a:r>
            <a:r>
              <a:rPr lang="en-US" b="1" dirty="0"/>
              <a:t>, </a:t>
            </a:r>
            <a:r>
              <a:rPr lang="en-US" b="1" i="1" dirty="0"/>
              <a:t>q</a:t>
            </a:r>
            <a:r>
              <a:rPr lang="en-US" b="1" dirty="0"/>
              <a:t>)</a:t>
            </a:r>
            <a:r>
              <a:rPr lang="en-US" dirty="0"/>
              <a:t>. An ARIMA model can also be used to develop AR, MA, and ARMA models.</a:t>
            </a:r>
          </a:p>
          <a:p>
            <a:pPr fontAlgn="base"/>
            <a:r>
              <a:rPr lang="en-US" dirty="0"/>
              <a:t>The ARIMA approach is </a:t>
            </a:r>
            <a:r>
              <a:rPr lang="en-US" b="1" dirty="0"/>
              <a:t>optimal for single-variable time series that exhibit a trend but lack seasonal variations</a:t>
            </a:r>
            <a:r>
              <a:rPr lang="en-US" dirty="0"/>
              <a:t>.</a:t>
            </a:r>
          </a:p>
        </p:txBody>
      </p:sp>
    </p:spTree>
    <p:extLst>
      <p:ext uri="{BB962C8B-B14F-4D97-AF65-F5344CB8AC3E}">
        <p14:creationId xmlns:p14="http://schemas.microsoft.com/office/powerpoint/2010/main" val="2343053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AC5E7-49B3-D54B-A07B-972E7599A1A0}"/>
              </a:ext>
            </a:extLst>
          </p:cNvPr>
          <p:cNvSpPr>
            <a:spLocks noGrp="1"/>
          </p:cNvSpPr>
          <p:nvPr>
            <p:ph type="title"/>
          </p:nvPr>
        </p:nvSpPr>
        <p:spPr/>
        <p:txBody>
          <a:bodyPr>
            <a:normAutofit/>
          </a:bodyPr>
          <a:lstStyle/>
          <a:p>
            <a:r>
              <a:rPr lang="en-US" sz="3600" dirty="0"/>
              <a:t>5. Seasonal Autoregressive Integrated Moving-Average (SARIMA)</a:t>
            </a:r>
          </a:p>
        </p:txBody>
      </p:sp>
      <p:sp>
        <p:nvSpPr>
          <p:cNvPr id="3" name="Content Placeholder 2">
            <a:extLst>
              <a:ext uri="{FF2B5EF4-FFF2-40B4-BE49-F238E27FC236}">
                <a16:creationId xmlns:a16="http://schemas.microsoft.com/office/drawing/2014/main" id="{94BC6DEE-A7BD-D949-94D8-71A3ECC0536E}"/>
              </a:ext>
            </a:extLst>
          </p:cNvPr>
          <p:cNvSpPr>
            <a:spLocks noGrp="1"/>
          </p:cNvSpPr>
          <p:nvPr>
            <p:ph idx="1"/>
          </p:nvPr>
        </p:nvSpPr>
        <p:spPr/>
        <p:txBody>
          <a:bodyPr>
            <a:normAutofit fontScale="85000" lnSpcReduction="10000"/>
          </a:bodyPr>
          <a:lstStyle/>
          <a:p>
            <a:pPr fontAlgn="base"/>
            <a:r>
              <a:rPr lang="en-US" dirty="0"/>
              <a:t>The </a:t>
            </a:r>
            <a:r>
              <a:rPr lang="en-US" b="1" dirty="0">
                <a:hlinkClick r:id="rId2">
                  <a:extLst>
                    <a:ext uri="{A12FA001-AC4F-418D-AE19-62706E023703}">
                      <ahyp:hlinkClr xmlns:ahyp="http://schemas.microsoft.com/office/drawing/2018/hyperlinkcolor" val="tx"/>
                    </a:ext>
                  </a:extLst>
                </a:hlinkClick>
              </a:rPr>
              <a:t>Seasonal Autoregressive Integrated Moving Average (SARIMA)</a:t>
            </a:r>
            <a:r>
              <a:rPr lang="en-US" b="1" dirty="0"/>
              <a:t> </a:t>
            </a:r>
            <a:r>
              <a:rPr lang="en-US" dirty="0"/>
              <a:t>method models the next step in the sequence based on </a:t>
            </a:r>
            <a:r>
              <a:rPr lang="en-US" b="1" dirty="0"/>
              <a:t>a linear blend of differenced observations, errors, differenced seasonal observations, and seasonal errors at prior time steps.</a:t>
            </a:r>
          </a:p>
          <a:p>
            <a:pPr fontAlgn="base"/>
            <a:r>
              <a:rPr lang="en-US" dirty="0"/>
              <a:t>SARIMA enhances the ARIMA model with the ability to perform the same autoregression, differencing, and moving average modeling at the seasonal level.</a:t>
            </a:r>
          </a:p>
          <a:p>
            <a:pPr fontAlgn="base"/>
            <a:r>
              <a:rPr lang="en-US" dirty="0"/>
              <a:t>The notation for the model involves specifying the order for the AR(</a:t>
            </a:r>
            <a:r>
              <a:rPr lang="en-US" i="1" dirty="0"/>
              <a:t>p</a:t>
            </a:r>
            <a:r>
              <a:rPr lang="en-US" dirty="0"/>
              <a:t>), I(</a:t>
            </a:r>
            <a:r>
              <a:rPr lang="en-US" i="1" dirty="0"/>
              <a:t>d</a:t>
            </a:r>
            <a:r>
              <a:rPr lang="en-US" dirty="0"/>
              <a:t>), and MA(</a:t>
            </a:r>
            <a:r>
              <a:rPr lang="en-US" i="1" dirty="0"/>
              <a:t>q</a:t>
            </a:r>
            <a:r>
              <a:rPr lang="en-US" dirty="0"/>
              <a:t>) models as parameters to an ARIMA function and AR(</a:t>
            </a:r>
            <a:r>
              <a:rPr lang="en-US" i="1" dirty="0"/>
              <a:t>P</a:t>
            </a:r>
            <a:r>
              <a:rPr lang="en-US" dirty="0"/>
              <a:t>), I(</a:t>
            </a:r>
            <a:r>
              <a:rPr lang="en-US" i="1" dirty="0"/>
              <a:t>D</a:t>
            </a:r>
            <a:r>
              <a:rPr lang="en-US" dirty="0"/>
              <a:t>), MA(</a:t>
            </a:r>
            <a:r>
              <a:rPr lang="en-US" i="1" dirty="0"/>
              <a:t>Q</a:t>
            </a:r>
            <a:r>
              <a:rPr lang="en-US" dirty="0"/>
              <a:t>) and </a:t>
            </a:r>
            <a:r>
              <a:rPr lang="en-US" i="1" dirty="0"/>
              <a:t>m</a:t>
            </a:r>
            <a:r>
              <a:rPr lang="en-US" dirty="0"/>
              <a:t> parameters at the seasonal level, e.g. </a:t>
            </a:r>
            <a:r>
              <a:rPr lang="en-US" b="1" dirty="0"/>
              <a:t>SARIMA(</a:t>
            </a:r>
            <a:r>
              <a:rPr lang="en-US" b="1" i="1" dirty="0"/>
              <a:t>p</a:t>
            </a:r>
            <a:r>
              <a:rPr lang="en-US" b="1" dirty="0"/>
              <a:t>, </a:t>
            </a:r>
            <a:r>
              <a:rPr lang="en-US" b="1" i="1" dirty="0"/>
              <a:t>d</a:t>
            </a:r>
            <a:r>
              <a:rPr lang="en-US" b="1" dirty="0"/>
              <a:t>, </a:t>
            </a:r>
            <a:r>
              <a:rPr lang="en-US" b="1" i="1" dirty="0"/>
              <a:t>q</a:t>
            </a:r>
            <a:r>
              <a:rPr lang="en-US" b="1" dirty="0"/>
              <a:t>)(</a:t>
            </a:r>
            <a:r>
              <a:rPr lang="en-US" b="1" i="1" dirty="0"/>
              <a:t>P</a:t>
            </a:r>
            <a:r>
              <a:rPr lang="en-US" b="1" dirty="0"/>
              <a:t>, </a:t>
            </a:r>
            <a:r>
              <a:rPr lang="en-US" b="1" i="1" dirty="0"/>
              <a:t>D</a:t>
            </a:r>
            <a:r>
              <a:rPr lang="en-US" b="1" dirty="0"/>
              <a:t>, </a:t>
            </a:r>
            <a:r>
              <a:rPr lang="en-US" b="1" i="1" dirty="0"/>
              <a:t>Q</a:t>
            </a:r>
            <a:r>
              <a:rPr lang="en-US" b="1" dirty="0"/>
              <a:t>)</a:t>
            </a:r>
            <a:r>
              <a:rPr lang="en-US" b="1" i="1" dirty="0"/>
              <a:t>m</a:t>
            </a:r>
            <a:r>
              <a:rPr lang="en-US" dirty="0"/>
              <a:t> where “</a:t>
            </a:r>
            <a:r>
              <a:rPr lang="en-US" i="1" dirty="0"/>
              <a:t>m</a:t>
            </a:r>
            <a:r>
              <a:rPr lang="en-US" dirty="0"/>
              <a:t>” is the number of time steps in each season (the seasonal period). A SARIMA model can be used to develop AR, MA, ARMA and ARIMA models.</a:t>
            </a:r>
          </a:p>
          <a:p>
            <a:pPr fontAlgn="base"/>
            <a:r>
              <a:rPr lang="en-US" dirty="0"/>
              <a:t>The method is </a:t>
            </a:r>
            <a:r>
              <a:rPr lang="en-US" b="1" dirty="0"/>
              <a:t>suitable for univariate time series with trend and/or seasonal components.</a:t>
            </a:r>
          </a:p>
          <a:p>
            <a:pPr marL="0" indent="0">
              <a:buNone/>
            </a:pPr>
            <a:endParaRPr lang="en-US" dirty="0"/>
          </a:p>
        </p:txBody>
      </p:sp>
    </p:spTree>
    <p:extLst>
      <p:ext uri="{BB962C8B-B14F-4D97-AF65-F5344CB8AC3E}">
        <p14:creationId xmlns:p14="http://schemas.microsoft.com/office/powerpoint/2010/main" val="1383996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AC5E7-49B3-D54B-A07B-972E7599A1A0}"/>
              </a:ext>
            </a:extLst>
          </p:cNvPr>
          <p:cNvSpPr>
            <a:spLocks noGrp="1"/>
          </p:cNvSpPr>
          <p:nvPr>
            <p:ph type="title"/>
          </p:nvPr>
        </p:nvSpPr>
        <p:spPr/>
        <p:txBody>
          <a:bodyPr>
            <a:normAutofit/>
          </a:bodyPr>
          <a:lstStyle/>
          <a:p>
            <a:r>
              <a:rPr lang="en-US" sz="3600" dirty="0"/>
              <a:t>6. Seasonal Autoregressive Integrated Moving-Average with Exogenous Regressors (SARIMAX)</a:t>
            </a:r>
          </a:p>
        </p:txBody>
      </p:sp>
      <p:sp>
        <p:nvSpPr>
          <p:cNvPr id="3" name="Content Placeholder 2">
            <a:extLst>
              <a:ext uri="{FF2B5EF4-FFF2-40B4-BE49-F238E27FC236}">
                <a16:creationId xmlns:a16="http://schemas.microsoft.com/office/drawing/2014/main" id="{94BC6DEE-A7BD-D949-94D8-71A3ECC0536E}"/>
              </a:ext>
            </a:extLst>
          </p:cNvPr>
          <p:cNvSpPr>
            <a:spLocks noGrp="1"/>
          </p:cNvSpPr>
          <p:nvPr>
            <p:ph idx="1"/>
          </p:nvPr>
        </p:nvSpPr>
        <p:spPr>
          <a:xfrm>
            <a:off x="838200" y="1825625"/>
            <a:ext cx="10515600" cy="4558846"/>
          </a:xfrm>
        </p:spPr>
        <p:txBody>
          <a:bodyPr>
            <a:normAutofit fontScale="92500" lnSpcReduction="20000"/>
          </a:bodyPr>
          <a:lstStyle/>
          <a:p>
            <a:pPr fontAlgn="base"/>
            <a:r>
              <a:rPr lang="en-US" b="1" dirty="0"/>
              <a:t>SARIMAX</a:t>
            </a:r>
            <a:r>
              <a:rPr lang="en-US" dirty="0"/>
              <a:t> is an extension of the SARIMA model that </a:t>
            </a:r>
            <a:r>
              <a:rPr lang="en-US" b="1" dirty="0"/>
              <a:t>also includes the modeling of exogenous variables</a:t>
            </a:r>
            <a:r>
              <a:rPr lang="en-US" dirty="0"/>
              <a:t>.</a:t>
            </a:r>
          </a:p>
          <a:p>
            <a:pPr fontAlgn="base"/>
            <a:r>
              <a:rPr lang="en-US" dirty="0"/>
              <a:t>Exogenous variables, also called covariates, can be thought of as parallel input sequences that have observations at the same time steps as the original series. The primary series may be referred </a:t>
            </a:r>
            <a:r>
              <a:rPr lang="en-US" b="1" dirty="0"/>
              <a:t>to as endogenous data </a:t>
            </a:r>
            <a:r>
              <a:rPr lang="en-US" dirty="0"/>
              <a:t>to contrast it from the exogenous sequence(s). The observations for exogenous variables are included in the model directly at each time step and are not modeled in the same way as the primary endogenous sequence (e.g. as an AR, MA, etc. process).</a:t>
            </a:r>
          </a:p>
          <a:p>
            <a:pPr fontAlgn="base"/>
            <a:r>
              <a:rPr lang="en-US" dirty="0"/>
              <a:t>The SARIMAX method can also be used to model the subsumed models with exogenous variables, such as ARX, MAX, ARMAX, and ARIMAX.</a:t>
            </a:r>
          </a:p>
          <a:p>
            <a:pPr fontAlgn="base"/>
            <a:r>
              <a:rPr lang="en-US" dirty="0"/>
              <a:t>The method is </a:t>
            </a:r>
            <a:r>
              <a:rPr lang="en-US" b="1" dirty="0"/>
              <a:t>suitable for univariate time series with trend and/or seasonal components and exogenous variables.</a:t>
            </a:r>
          </a:p>
        </p:txBody>
      </p:sp>
    </p:spTree>
    <p:extLst>
      <p:ext uri="{BB962C8B-B14F-4D97-AF65-F5344CB8AC3E}">
        <p14:creationId xmlns:p14="http://schemas.microsoft.com/office/powerpoint/2010/main" val="1604119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35C4E-2650-B143-AA45-6D7C8CF3E2BF}"/>
              </a:ext>
            </a:extLst>
          </p:cNvPr>
          <p:cNvSpPr>
            <a:spLocks noGrp="1"/>
          </p:cNvSpPr>
          <p:nvPr>
            <p:ph type="title"/>
          </p:nvPr>
        </p:nvSpPr>
        <p:spPr/>
        <p:txBody>
          <a:bodyPr/>
          <a:lstStyle/>
          <a:p>
            <a:r>
              <a:rPr lang="en-US" dirty="0"/>
              <a:t>7. Vector Autoregression (VAR)</a:t>
            </a:r>
          </a:p>
        </p:txBody>
      </p:sp>
      <p:sp>
        <p:nvSpPr>
          <p:cNvPr id="3" name="Content Placeholder 2">
            <a:extLst>
              <a:ext uri="{FF2B5EF4-FFF2-40B4-BE49-F238E27FC236}">
                <a16:creationId xmlns:a16="http://schemas.microsoft.com/office/drawing/2014/main" id="{0677BD8A-6CB3-B047-88DF-C4048C41198E}"/>
              </a:ext>
            </a:extLst>
          </p:cNvPr>
          <p:cNvSpPr>
            <a:spLocks noGrp="1"/>
          </p:cNvSpPr>
          <p:nvPr>
            <p:ph idx="1"/>
          </p:nvPr>
        </p:nvSpPr>
        <p:spPr/>
        <p:txBody>
          <a:bodyPr>
            <a:normAutofit lnSpcReduction="10000"/>
          </a:bodyPr>
          <a:lstStyle/>
          <a:p>
            <a:pPr fontAlgn="base"/>
            <a:r>
              <a:rPr lang="en-US" dirty="0"/>
              <a:t>The </a:t>
            </a:r>
            <a:r>
              <a:rPr lang="en-US" b="1" dirty="0"/>
              <a:t>Vector Autoregression (VAR) </a:t>
            </a:r>
            <a:r>
              <a:rPr lang="en-US" dirty="0"/>
              <a:t>method models the next step in each time series using an AR model approach. Essentially, </a:t>
            </a:r>
            <a:r>
              <a:rPr lang="en-US" b="1" dirty="0"/>
              <a:t>it extends the AR model to cater to multiple parallel time series, e.g. multivariate time series.</a:t>
            </a:r>
          </a:p>
          <a:p>
            <a:pPr fontAlgn="base"/>
            <a:endParaRPr lang="en-US" dirty="0"/>
          </a:p>
          <a:p>
            <a:pPr fontAlgn="base"/>
            <a:r>
              <a:rPr lang="en-US" dirty="0"/>
              <a:t>The notation for the model involves specifying the order for the AR(</a:t>
            </a:r>
            <a:r>
              <a:rPr lang="en-US" i="1" dirty="0"/>
              <a:t>p</a:t>
            </a:r>
            <a:r>
              <a:rPr lang="en-US" dirty="0"/>
              <a:t>) model as parameters to a VAR function, e.g. </a:t>
            </a:r>
            <a:r>
              <a:rPr lang="en-US" b="1" dirty="0"/>
              <a:t>VAR(</a:t>
            </a:r>
            <a:r>
              <a:rPr lang="en-US" b="1" i="1" dirty="0"/>
              <a:t>p</a:t>
            </a:r>
            <a:r>
              <a:rPr lang="en-US" b="1" dirty="0"/>
              <a:t>)</a:t>
            </a:r>
            <a:r>
              <a:rPr lang="en-US" dirty="0"/>
              <a:t>.</a:t>
            </a:r>
          </a:p>
          <a:p>
            <a:pPr fontAlgn="base"/>
            <a:endParaRPr lang="en-US" dirty="0"/>
          </a:p>
          <a:p>
            <a:pPr fontAlgn="base"/>
            <a:r>
              <a:rPr lang="en-US" dirty="0"/>
              <a:t>The method is suitable for </a:t>
            </a:r>
            <a:r>
              <a:rPr lang="en-US" b="1" dirty="0"/>
              <a:t>multivariate time series without trend and seasonal components.</a:t>
            </a:r>
          </a:p>
        </p:txBody>
      </p:sp>
    </p:spTree>
    <p:extLst>
      <p:ext uri="{BB962C8B-B14F-4D97-AF65-F5344CB8AC3E}">
        <p14:creationId xmlns:p14="http://schemas.microsoft.com/office/powerpoint/2010/main" val="2452897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35C4E-2650-B143-AA45-6D7C8CF3E2BF}"/>
              </a:ext>
            </a:extLst>
          </p:cNvPr>
          <p:cNvSpPr>
            <a:spLocks noGrp="1"/>
          </p:cNvSpPr>
          <p:nvPr>
            <p:ph type="title"/>
          </p:nvPr>
        </p:nvSpPr>
        <p:spPr/>
        <p:txBody>
          <a:bodyPr>
            <a:normAutofit/>
          </a:bodyPr>
          <a:lstStyle/>
          <a:p>
            <a:r>
              <a:rPr lang="en-US" sz="3600" dirty="0"/>
              <a:t>8. </a:t>
            </a:r>
            <a:r>
              <a:rPr lang="en-US" sz="3600" b="1" dirty="0"/>
              <a:t>Vector Autoregression Moving-Average (VARMA)</a:t>
            </a:r>
            <a:endParaRPr lang="en-US" sz="3600" dirty="0"/>
          </a:p>
        </p:txBody>
      </p:sp>
      <p:sp>
        <p:nvSpPr>
          <p:cNvPr id="3" name="Content Placeholder 2">
            <a:extLst>
              <a:ext uri="{FF2B5EF4-FFF2-40B4-BE49-F238E27FC236}">
                <a16:creationId xmlns:a16="http://schemas.microsoft.com/office/drawing/2014/main" id="{0677BD8A-6CB3-B047-88DF-C4048C41198E}"/>
              </a:ext>
            </a:extLst>
          </p:cNvPr>
          <p:cNvSpPr>
            <a:spLocks noGrp="1"/>
          </p:cNvSpPr>
          <p:nvPr>
            <p:ph idx="1"/>
          </p:nvPr>
        </p:nvSpPr>
        <p:spPr/>
        <p:txBody>
          <a:bodyPr>
            <a:normAutofit/>
          </a:bodyPr>
          <a:lstStyle/>
          <a:p>
            <a:pPr fontAlgn="base"/>
            <a:r>
              <a:rPr lang="en-US" dirty="0"/>
              <a:t>The </a:t>
            </a:r>
            <a:r>
              <a:rPr lang="en-US" b="1" dirty="0"/>
              <a:t>Vector Autoregression Moving-Average (VARMA)</a:t>
            </a:r>
            <a:r>
              <a:rPr lang="en-US" dirty="0"/>
              <a:t> method models the upcoming value in multiple time series by utilizing the ARMA model approach. It is </a:t>
            </a:r>
            <a:r>
              <a:rPr lang="en-US" b="1" dirty="0"/>
              <a:t>the generalization of ARMA to multiple parallel time series, e.g. multivariate time series.</a:t>
            </a:r>
          </a:p>
          <a:p>
            <a:pPr fontAlgn="base"/>
            <a:r>
              <a:rPr lang="en-US" dirty="0"/>
              <a:t>The notation for the model involves specifying the order for the AR(</a:t>
            </a:r>
            <a:r>
              <a:rPr lang="en-US" i="1" dirty="0"/>
              <a:t>p</a:t>
            </a:r>
            <a:r>
              <a:rPr lang="en-US" dirty="0"/>
              <a:t>) and MA(</a:t>
            </a:r>
            <a:r>
              <a:rPr lang="en-US" i="1" dirty="0"/>
              <a:t>q</a:t>
            </a:r>
            <a:r>
              <a:rPr lang="en-US" dirty="0"/>
              <a:t>) models as parameters to a VARMA function, e.g. </a:t>
            </a:r>
            <a:r>
              <a:rPr lang="en-US" b="1" dirty="0"/>
              <a:t>VARMA(</a:t>
            </a:r>
            <a:r>
              <a:rPr lang="en-US" b="1" i="1" dirty="0"/>
              <a:t>p</a:t>
            </a:r>
            <a:r>
              <a:rPr lang="en-US" b="1" dirty="0"/>
              <a:t>,</a:t>
            </a:r>
            <a:r>
              <a:rPr lang="en-US" b="1" i="1" dirty="0"/>
              <a:t> q</a:t>
            </a:r>
            <a:r>
              <a:rPr lang="en-US" b="1" dirty="0"/>
              <a:t>)</a:t>
            </a:r>
            <a:r>
              <a:rPr lang="en-US" dirty="0"/>
              <a:t>. A VARMA model can also be used to develop VAR or VMA models.</a:t>
            </a:r>
          </a:p>
          <a:p>
            <a:pPr fontAlgn="base"/>
            <a:r>
              <a:rPr lang="en-US" dirty="0"/>
              <a:t>The method is </a:t>
            </a:r>
            <a:r>
              <a:rPr lang="en-US" b="1" dirty="0"/>
              <a:t>suitable for multivariate time series without trend and seasonal components</a:t>
            </a:r>
          </a:p>
        </p:txBody>
      </p:sp>
    </p:spTree>
    <p:extLst>
      <p:ext uri="{BB962C8B-B14F-4D97-AF65-F5344CB8AC3E}">
        <p14:creationId xmlns:p14="http://schemas.microsoft.com/office/powerpoint/2010/main" val="184328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35C4E-2650-B143-AA45-6D7C8CF3E2BF}"/>
              </a:ext>
            </a:extLst>
          </p:cNvPr>
          <p:cNvSpPr>
            <a:spLocks noGrp="1"/>
          </p:cNvSpPr>
          <p:nvPr>
            <p:ph type="title"/>
          </p:nvPr>
        </p:nvSpPr>
        <p:spPr/>
        <p:txBody>
          <a:bodyPr>
            <a:normAutofit/>
          </a:bodyPr>
          <a:lstStyle/>
          <a:p>
            <a:r>
              <a:rPr lang="en-US" sz="4000" dirty="0"/>
              <a:t>9. </a:t>
            </a:r>
            <a:r>
              <a:rPr lang="en-US" sz="4000" b="1" dirty="0"/>
              <a:t>Vector Autoregression Moving-Average with Exogenous Regressors (VARMAX)</a:t>
            </a:r>
            <a:endParaRPr lang="en-US" dirty="0"/>
          </a:p>
        </p:txBody>
      </p:sp>
      <p:sp>
        <p:nvSpPr>
          <p:cNvPr id="3" name="Content Placeholder 2">
            <a:extLst>
              <a:ext uri="{FF2B5EF4-FFF2-40B4-BE49-F238E27FC236}">
                <a16:creationId xmlns:a16="http://schemas.microsoft.com/office/drawing/2014/main" id="{0677BD8A-6CB3-B047-88DF-C4048C41198E}"/>
              </a:ext>
            </a:extLst>
          </p:cNvPr>
          <p:cNvSpPr>
            <a:spLocks noGrp="1"/>
          </p:cNvSpPr>
          <p:nvPr>
            <p:ph idx="1"/>
          </p:nvPr>
        </p:nvSpPr>
        <p:spPr/>
        <p:txBody>
          <a:bodyPr>
            <a:normAutofit fontScale="85000" lnSpcReduction="10000"/>
          </a:bodyPr>
          <a:lstStyle/>
          <a:p>
            <a:pPr fontAlgn="base"/>
            <a:r>
              <a:rPr lang="en-US" dirty="0"/>
              <a:t>VARMAX extends the capabilities of the VARMA model which also </a:t>
            </a:r>
            <a:r>
              <a:rPr lang="en-US" b="1" dirty="0"/>
              <a:t>includes the modelling of exogenous variables</a:t>
            </a:r>
            <a:r>
              <a:rPr lang="en-US" dirty="0"/>
              <a:t>. It is a </a:t>
            </a:r>
            <a:r>
              <a:rPr lang="en-US" b="1" dirty="0"/>
              <a:t>multivariate version of the ARMAX method</a:t>
            </a:r>
            <a:r>
              <a:rPr lang="en-US" dirty="0"/>
              <a:t>.</a:t>
            </a:r>
          </a:p>
          <a:p>
            <a:pPr fontAlgn="base"/>
            <a:r>
              <a:rPr lang="en-US" dirty="0"/>
              <a:t>Exogenous variables, also called covariates and can be thought of as parallel input sequences that align with the time steps as the original series. The primary series(</a:t>
            </a:r>
            <a:r>
              <a:rPr lang="en-US" dirty="0" err="1"/>
              <a:t>es</a:t>
            </a:r>
            <a:r>
              <a:rPr lang="en-US" dirty="0"/>
              <a:t>) are referred to as endogenous data to contrast it from the exogenous sequence(s). The observations for exogenous variables are included in the model directly at each time step and are not modeled in the same way as the primary endogenous sequence (e.g. as an AR, MA, etc. process).</a:t>
            </a:r>
          </a:p>
          <a:p>
            <a:pPr fontAlgn="base"/>
            <a:r>
              <a:rPr lang="en-US" dirty="0"/>
              <a:t>The VARMAX method can also be used to model the subsumed models with exogenous variables, such as VARX and VMAX.</a:t>
            </a:r>
          </a:p>
          <a:p>
            <a:pPr fontAlgn="base"/>
            <a:r>
              <a:rPr lang="en-US" dirty="0"/>
              <a:t>The method is </a:t>
            </a:r>
            <a:r>
              <a:rPr lang="en-US" b="1" dirty="0"/>
              <a:t>suitable for multivariate time series without trend and seasonal components with exogenous variables.</a:t>
            </a:r>
          </a:p>
        </p:txBody>
      </p:sp>
    </p:spTree>
    <p:extLst>
      <p:ext uri="{BB962C8B-B14F-4D97-AF65-F5344CB8AC3E}">
        <p14:creationId xmlns:p14="http://schemas.microsoft.com/office/powerpoint/2010/main" val="994849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35C4E-2650-B143-AA45-6D7C8CF3E2BF}"/>
              </a:ext>
            </a:extLst>
          </p:cNvPr>
          <p:cNvSpPr>
            <a:spLocks noGrp="1"/>
          </p:cNvSpPr>
          <p:nvPr>
            <p:ph type="title"/>
          </p:nvPr>
        </p:nvSpPr>
        <p:spPr/>
        <p:txBody>
          <a:bodyPr/>
          <a:lstStyle/>
          <a:p>
            <a:r>
              <a:rPr lang="en-US" dirty="0"/>
              <a:t>10. </a:t>
            </a:r>
            <a:r>
              <a:rPr lang="en-US" b="1" dirty="0"/>
              <a:t>Simple Exponential Smoothing (SES)</a:t>
            </a:r>
            <a:endParaRPr lang="en-US" dirty="0"/>
          </a:p>
        </p:txBody>
      </p:sp>
      <p:sp>
        <p:nvSpPr>
          <p:cNvPr id="3" name="Content Placeholder 2">
            <a:extLst>
              <a:ext uri="{FF2B5EF4-FFF2-40B4-BE49-F238E27FC236}">
                <a16:creationId xmlns:a16="http://schemas.microsoft.com/office/drawing/2014/main" id="{0677BD8A-6CB3-B047-88DF-C4048C41198E}"/>
              </a:ext>
            </a:extLst>
          </p:cNvPr>
          <p:cNvSpPr>
            <a:spLocks noGrp="1"/>
          </p:cNvSpPr>
          <p:nvPr>
            <p:ph idx="1"/>
          </p:nvPr>
        </p:nvSpPr>
        <p:spPr>
          <a:xfrm>
            <a:off x="838200" y="1825625"/>
            <a:ext cx="10771414" cy="4460875"/>
          </a:xfrm>
        </p:spPr>
        <p:txBody>
          <a:bodyPr>
            <a:normAutofit fontScale="77500" lnSpcReduction="20000"/>
          </a:bodyPr>
          <a:lstStyle/>
          <a:p>
            <a:pPr fontAlgn="base"/>
            <a:r>
              <a:rPr lang="en-US" b="1" dirty="0"/>
              <a:t>Simple Exponential Smoothing (SES</a:t>
            </a:r>
            <a:r>
              <a:rPr lang="en-US" dirty="0"/>
              <a:t>), also called </a:t>
            </a:r>
            <a:r>
              <a:rPr lang="en-US" b="1" dirty="0"/>
              <a:t>Single Exponential Smoothing</a:t>
            </a:r>
            <a:r>
              <a:rPr lang="en-US" dirty="0"/>
              <a:t>, is a time series forecasting method for </a:t>
            </a:r>
            <a:r>
              <a:rPr lang="en-US" b="1" dirty="0"/>
              <a:t>univariate data without a trend or seasonality.</a:t>
            </a:r>
          </a:p>
          <a:p>
            <a:pPr fontAlgn="base"/>
            <a:r>
              <a:rPr lang="en-US" dirty="0"/>
              <a:t>It requires a single parameter, called </a:t>
            </a:r>
            <a:r>
              <a:rPr lang="en-US" i="1" dirty="0"/>
              <a:t>alpha</a:t>
            </a:r>
            <a:r>
              <a:rPr lang="en-US" dirty="0"/>
              <a:t> (</a:t>
            </a:r>
            <a:r>
              <a:rPr lang="en-US" i="1" dirty="0"/>
              <a:t>a</a:t>
            </a:r>
            <a:r>
              <a:rPr lang="en-US" dirty="0"/>
              <a:t>), also called the smoothing factor or smoothing coefficient.</a:t>
            </a:r>
          </a:p>
          <a:p>
            <a:pPr fontAlgn="base"/>
            <a:r>
              <a:rPr lang="en-US" dirty="0"/>
              <a:t>This parameter controls the rate at which the influence of the observations at prior time steps decay exponentially. Alpha is often set to a value between 0 and 1. Large values mean that the model pays attention mainly to the most recent past observations, whereas smaller values mean more of the history is taken into account when making a prediction.</a:t>
            </a:r>
          </a:p>
          <a:p>
            <a:pPr fontAlgn="base"/>
            <a:r>
              <a:rPr lang="en-US" i="1" dirty="0"/>
              <a:t>A value close to 1 indicates fast learning (that is, only the most recent values influence the forecasts), whereas a value close to 0 indicates slow learning (past observations have a large influence on forecasts).</a:t>
            </a:r>
            <a:endParaRPr lang="en-US" dirty="0"/>
          </a:p>
          <a:p>
            <a:pPr marL="0" indent="0" fontAlgn="base">
              <a:buNone/>
            </a:pPr>
            <a:endParaRPr lang="en-US" dirty="0"/>
          </a:p>
          <a:p>
            <a:pPr marL="0" indent="0" fontAlgn="base">
              <a:buNone/>
            </a:pPr>
            <a:r>
              <a:rPr lang="en-US" dirty="0"/>
              <a:t>Hyperparameters:</a:t>
            </a:r>
          </a:p>
          <a:p>
            <a:pPr fontAlgn="base"/>
            <a:r>
              <a:rPr lang="en-US" b="1" dirty="0"/>
              <a:t>Alpha</a:t>
            </a:r>
            <a:r>
              <a:rPr lang="en-US" dirty="0"/>
              <a:t>: Smoothing factor for the level.</a:t>
            </a:r>
          </a:p>
        </p:txBody>
      </p:sp>
    </p:spTree>
    <p:extLst>
      <p:ext uri="{BB962C8B-B14F-4D97-AF65-F5344CB8AC3E}">
        <p14:creationId xmlns:p14="http://schemas.microsoft.com/office/powerpoint/2010/main" val="3237660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35C4E-2650-B143-AA45-6D7C8CF3E2BF}"/>
              </a:ext>
            </a:extLst>
          </p:cNvPr>
          <p:cNvSpPr>
            <a:spLocks noGrp="1"/>
          </p:cNvSpPr>
          <p:nvPr>
            <p:ph type="title"/>
          </p:nvPr>
        </p:nvSpPr>
        <p:spPr/>
        <p:txBody>
          <a:bodyPr>
            <a:normAutofit/>
          </a:bodyPr>
          <a:lstStyle/>
          <a:p>
            <a:r>
              <a:rPr lang="en-US" sz="4000" dirty="0"/>
              <a:t>11. </a:t>
            </a:r>
            <a:r>
              <a:rPr lang="en-US" sz="4000" b="1" dirty="0"/>
              <a:t>Holt Winter’s Exponential Smoothing (HWES)</a:t>
            </a:r>
            <a:endParaRPr lang="en-US" sz="4000" dirty="0"/>
          </a:p>
        </p:txBody>
      </p:sp>
      <p:sp>
        <p:nvSpPr>
          <p:cNvPr id="3" name="Content Placeholder 2">
            <a:extLst>
              <a:ext uri="{FF2B5EF4-FFF2-40B4-BE49-F238E27FC236}">
                <a16:creationId xmlns:a16="http://schemas.microsoft.com/office/drawing/2014/main" id="{0677BD8A-6CB3-B047-88DF-C4048C41198E}"/>
              </a:ext>
            </a:extLst>
          </p:cNvPr>
          <p:cNvSpPr>
            <a:spLocks noGrp="1"/>
          </p:cNvSpPr>
          <p:nvPr>
            <p:ph idx="1"/>
          </p:nvPr>
        </p:nvSpPr>
        <p:spPr/>
        <p:txBody>
          <a:bodyPr>
            <a:normAutofit/>
          </a:bodyPr>
          <a:lstStyle/>
          <a:p>
            <a:pPr fontAlgn="base"/>
            <a:r>
              <a:rPr lang="en-US" b="1" dirty="0"/>
              <a:t>HWES </a:t>
            </a:r>
            <a:r>
              <a:rPr lang="en-US" dirty="0"/>
              <a:t>also called the </a:t>
            </a:r>
            <a:r>
              <a:rPr lang="en-US" b="1" i="1" dirty="0"/>
              <a:t>Triple Exponential Smoothing </a:t>
            </a:r>
            <a:r>
              <a:rPr lang="en-US" dirty="0"/>
              <a:t>method models the next time step as </a:t>
            </a:r>
            <a:r>
              <a:rPr lang="en-US" b="1" dirty="0"/>
              <a:t>an exponentially weighted linear function of observations at prior time steps, taking trends and seasonality into account.</a:t>
            </a:r>
          </a:p>
          <a:p>
            <a:pPr marL="0" indent="0" fontAlgn="base">
              <a:buNone/>
            </a:pPr>
            <a:endParaRPr lang="en-US" b="1" dirty="0"/>
          </a:p>
          <a:p>
            <a:pPr fontAlgn="base"/>
            <a:r>
              <a:rPr lang="en-US" dirty="0"/>
              <a:t>The method is </a:t>
            </a:r>
            <a:r>
              <a:rPr lang="en-US" b="1" dirty="0"/>
              <a:t>suitable for univariate time series with trend and/or seasonal components.</a:t>
            </a:r>
          </a:p>
          <a:p>
            <a:pPr marL="0" indent="0">
              <a:buNone/>
            </a:pPr>
            <a:endParaRPr lang="en-US" b="1" dirty="0"/>
          </a:p>
        </p:txBody>
      </p:sp>
    </p:spTree>
    <p:extLst>
      <p:ext uri="{BB962C8B-B14F-4D97-AF65-F5344CB8AC3E}">
        <p14:creationId xmlns:p14="http://schemas.microsoft.com/office/powerpoint/2010/main" val="28569640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35C4E-2650-B143-AA45-6D7C8CF3E2BF}"/>
              </a:ext>
            </a:extLst>
          </p:cNvPr>
          <p:cNvSpPr>
            <a:spLocks noGrp="1"/>
          </p:cNvSpPr>
          <p:nvPr>
            <p:ph type="title"/>
          </p:nvPr>
        </p:nvSpPr>
        <p:spPr/>
        <p:txBody>
          <a:bodyPr>
            <a:normAutofit/>
          </a:bodyPr>
          <a:lstStyle/>
          <a:p>
            <a:r>
              <a:rPr lang="en-US" sz="4000" b="1" dirty="0"/>
              <a:t>Assignment</a:t>
            </a:r>
          </a:p>
        </p:txBody>
      </p:sp>
      <p:sp>
        <p:nvSpPr>
          <p:cNvPr id="3" name="Content Placeholder 2">
            <a:extLst>
              <a:ext uri="{FF2B5EF4-FFF2-40B4-BE49-F238E27FC236}">
                <a16:creationId xmlns:a16="http://schemas.microsoft.com/office/drawing/2014/main" id="{0677BD8A-6CB3-B047-88DF-C4048C41198E}"/>
              </a:ext>
            </a:extLst>
          </p:cNvPr>
          <p:cNvSpPr>
            <a:spLocks noGrp="1"/>
          </p:cNvSpPr>
          <p:nvPr>
            <p:ph idx="1"/>
          </p:nvPr>
        </p:nvSpPr>
        <p:spPr/>
        <p:txBody>
          <a:bodyPr>
            <a:normAutofit lnSpcReduction="10000"/>
          </a:bodyPr>
          <a:lstStyle/>
          <a:p>
            <a:pPr marL="514350" indent="-514350" fontAlgn="base">
              <a:buFont typeface="+mj-lt"/>
              <a:buAutoNum type="arabicPeriod"/>
            </a:pPr>
            <a:r>
              <a:rPr lang="en-US" dirty="0"/>
              <a:t>Write mathematical equation for AR(</a:t>
            </a:r>
            <a:r>
              <a:rPr lang="en-US" i="1" dirty="0"/>
              <a:t>p</a:t>
            </a:r>
            <a:r>
              <a:rPr lang="en-US" dirty="0"/>
              <a:t>)</a:t>
            </a:r>
          </a:p>
          <a:p>
            <a:pPr marL="514350" indent="-514350" fontAlgn="base">
              <a:buFont typeface="+mj-lt"/>
              <a:buAutoNum type="arabicPeriod"/>
            </a:pPr>
            <a:endParaRPr lang="en-US" b="1" dirty="0"/>
          </a:p>
          <a:p>
            <a:pPr marL="514350" indent="-514350" fontAlgn="base">
              <a:buFont typeface="+mj-lt"/>
              <a:buAutoNum type="arabicPeriod"/>
            </a:pPr>
            <a:r>
              <a:rPr lang="en-US" dirty="0"/>
              <a:t>Write mathematical equation for MA(</a:t>
            </a:r>
            <a:r>
              <a:rPr lang="en-US" i="1" dirty="0"/>
              <a:t>q</a:t>
            </a:r>
            <a:r>
              <a:rPr lang="en-US" dirty="0"/>
              <a:t>)</a:t>
            </a:r>
          </a:p>
          <a:p>
            <a:pPr marL="514350" indent="-514350" fontAlgn="base">
              <a:buFont typeface="+mj-lt"/>
              <a:buAutoNum type="arabicPeriod"/>
            </a:pPr>
            <a:endParaRPr lang="en-US" dirty="0"/>
          </a:p>
          <a:p>
            <a:pPr marL="514350" indent="-514350" fontAlgn="base">
              <a:buFont typeface="+mj-lt"/>
              <a:buAutoNum type="arabicPeriod"/>
            </a:pPr>
            <a:r>
              <a:rPr lang="en-US" dirty="0"/>
              <a:t>Write mathematical equation for ARMA(</a:t>
            </a:r>
            <a:r>
              <a:rPr lang="en-US" i="1" dirty="0"/>
              <a:t>p, q</a:t>
            </a:r>
            <a:r>
              <a:rPr lang="en-US" dirty="0"/>
              <a:t>)</a:t>
            </a:r>
          </a:p>
          <a:p>
            <a:pPr marL="514350" indent="-514350" fontAlgn="base">
              <a:buFont typeface="+mj-lt"/>
              <a:buAutoNum type="arabicPeriod"/>
            </a:pPr>
            <a:endParaRPr lang="en-US" dirty="0"/>
          </a:p>
          <a:p>
            <a:pPr marL="514350" indent="-514350" fontAlgn="base">
              <a:buFont typeface="+mj-lt"/>
              <a:buAutoNum type="arabicPeriod"/>
            </a:pPr>
            <a:r>
              <a:rPr lang="en-US" dirty="0"/>
              <a:t>Write mathematical equation for SARIMA(</a:t>
            </a:r>
            <a:r>
              <a:rPr lang="en-US" i="1" dirty="0"/>
              <a:t>p, d, q</a:t>
            </a:r>
            <a:r>
              <a:rPr lang="en-US" dirty="0"/>
              <a:t>)</a:t>
            </a:r>
          </a:p>
          <a:p>
            <a:pPr marL="514350" indent="-514350" fontAlgn="base">
              <a:buFont typeface="+mj-lt"/>
              <a:buAutoNum type="arabicPeriod"/>
            </a:pPr>
            <a:endParaRPr lang="en-US" b="1" dirty="0"/>
          </a:p>
          <a:p>
            <a:pPr marL="514350" indent="-514350" fontAlgn="base">
              <a:buFont typeface="+mj-lt"/>
              <a:buAutoNum type="arabicPeriod"/>
            </a:pPr>
            <a:r>
              <a:rPr lang="en-US" dirty="0"/>
              <a:t>Write mathematical equation for SES</a:t>
            </a:r>
            <a:endParaRPr lang="en-US" b="1" dirty="0"/>
          </a:p>
        </p:txBody>
      </p:sp>
    </p:spTree>
    <p:extLst>
      <p:ext uri="{BB962C8B-B14F-4D97-AF65-F5344CB8AC3E}">
        <p14:creationId xmlns:p14="http://schemas.microsoft.com/office/powerpoint/2010/main" val="41320134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1616</Words>
  <Application>Microsoft Macintosh PowerPoint</Application>
  <PresentationFormat>Widescreen</PresentationFormat>
  <Paragraphs>83</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Time Series Analysis and Forecasting</vt:lpstr>
      <vt:lpstr>List of Time Series Models</vt:lpstr>
      <vt:lpstr>1. Autoregression (AR)</vt:lpstr>
      <vt:lpstr>2. Moving Average (MA)</vt:lpstr>
      <vt:lpstr>3. Autoregressive Moving Average (ARMA)</vt:lpstr>
      <vt:lpstr>4. Autoregressive Integrated Moving Average (ARIMA)</vt:lpstr>
      <vt:lpstr>5. Seasonal Autoregressive Integrated Moving-Average (SARIMA)</vt:lpstr>
      <vt:lpstr>6. Seasonal Autoregressive Integrated Moving-Average with Exogenous Regressors (SARIMAX)</vt:lpstr>
      <vt:lpstr>7. Vector Autoregression (VAR)</vt:lpstr>
      <vt:lpstr>8. Vector Autoregression Moving-Average (VARMA)</vt:lpstr>
      <vt:lpstr>9. Vector Autoregression Moving-Average with Exogenous Regressors (VARMAX)</vt:lpstr>
      <vt:lpstr>10. Simple Exponential Smoothing (SES)</vt:lpstr>
      <vt:lpstr>11. Holt Winter’s Exponential Smoothing (HWES)</vt:lpstr>
      <vt:lpstr>Assignment</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Series Analysis and Forecasting</dc:title>
  <dc:creator>tepmonysim@gmail.com</dc:creator>
  <cp:lastModifiedBy>tepmonysim@gmail.com</cp:lastModifiedBy>
  <cp:revision>9</cp:revision>
  <dcterms:created xsi:type="dcterms:W3CDTF">2024-03-09T03:54:54Z</dcterms:created>
  <dcterms:modified xsi:type="dcterms:W3CDTF">2024-03-09T09:04:21Z</dcterms:modified>
</cp:coreProperties>
</file>